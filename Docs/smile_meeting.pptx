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700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Thanks for sending the files. I've built the pipeline, audited all 108 clips, and I want to walk through what I found and the questions I need answered.
Aim: about 10 minutes, then leave time for discussion.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Be upfront: I cannot answer your research question today. 93 genuine, 1 performed.
What I CAN do is tell you how the measurements behave and flag problems while they're still fixable. That's what today is for.
The remaining three cells still need to come across - a shared OneDrive folder would be easier than email given the 100-file limit you hit.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This answers the question he actually asked, so lead with it.
Plain version: if you ask 93 people their opinion you get 93 opinions. If you ask 16 people six times each, you get 93 answers but far fewer opinions.
That's the situation here. 93 smiles carry roughly the weight of 23 independent observations.
If he wants SPSS: Appendix has working MIXED syntax. Offer to run it both ways and cross-check.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Point at the two extremes: C25 at the bottom, C23 at the top. Nearly 4 grades apart on a 0-5 scale.
If we ignored that, the analysis would look far more precise than it really is, and we'd risk reporting a difference that isn't there.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THIS IS THE MOST IMPORTANT SLIDE. Do not rush it.
Credit him first: you raised this concern in your original email and you were right.
Analogy if useful: like timing a song from a recording that starts mid-chorus and stops early. You can say "at least 30 seconds" but never the real length.
THE ASK: do the original full-length recordings still exist? If yes, re-cutting with ~2s padding turns three unusable measures into potentially our strongest ones.
If he says no: we fall back to survival analysis, which handles unknown endpoints. Publishable, but weaker.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This one I found by fitting the models rather than by inspection.
Analogy: measuring the tallest person in a crowd. A crowd of 100 has a taller "tallest" than a crowd of 10 - not because those people are taller, but because you looked at more of them.
Proof it's an artefact: chop every clip to the same length and the relationship disappears completely.
Consequence: this changed the analysis. Clip length is now a covariate for all peak measures, not just the cumulative ones.
Good news: the Duchenne co-activation measure is immune, because it's a proportion. Another reason to favour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Be clear these are NOT software failures - I checked. Zero failed frames, other muscles moving normally.
The key point is about timing of the decision, not the decision itself. Any exclusion rule must be agreed before we see the genuine-vs-performed results, otherwise it isn't defensible at review.
Ask: is the proposed rule acceptable, or would you set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Move briskly - these are simple asks, not discussion points.
1. The 13 state logs matter more than they sound, because people are our real sample size. Losing two of sixteen is losing 12% of our statistical power.
2. The fps question matters most for the timing measures on the previous slides.
3. The clip conflict is a one-word answer from him.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This is unwelcome news about the part he cares most about. Deliver it plainly but not apologetically.
Framing: better to know now, while the design can still change, than after collection finishes.
The honest problem: if we run the cultural comparison as a confirmatory test and get nothing, we won't know whether the effect is absent or just undetectable. That's a weak position for a paper.
KEY QUESTION FOR HIM: how many smilers are there in total across all four cells? If it's well above 30 per culture, this changes. If not, exploratory framing is the honest route.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minutes. Prioritise ruthlessly - do not read all eight questions aloud.
Question 1 is the one to push hardest. It changes what the paper can claim.
Question 2 he may know off the top of his head, and it settles the power framing immediately.
Question 3 is the pre-registration point - agreeing in writing now is what lets the paper say the analysis was specified in advance.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minute. Skim these - say they're all written up in Section 7 of the report and he can answer by email.
The last one is worth a sentence: Happy peak and the smile measure correlate at 0.85, so we're largely measuring the same thing twice. Worth swapping it for something that adds independent information - a timing measure would be the obvious candidate, but that depends on the re-cutting answer.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Reassuring but honest: no disasters, but four things worth fixing, and the window to fix them cheaply is now.
Then open the floor. Have the report on screen ready to jump to specific sections.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a:effectLst/>
      </p:bgPr>
    </p:bg>
    <p:spTree>
      <p:nvGrpSpPr>
        <p:cNvPr id="1" name=""/>
        <p:cNvGrpSpPr/>
        <p:nvPr/>
      </p:nvGrpSpPr>
      <p:grpSpPr>
        <a:xfrm>
          <a:off x="0" y="0"/>
          <a:ext cx="0" cy="0"/>
          <a:chOff x="0" y="0"/>
          <a:chExt cx="0" cy="0"/>
        </a:xfrm>
      </p:grpSpPr>
      <p:sp>
        <p:nvSpPr>
          <p:cNvPr id="2" name="Text 0"/>
          <p:cNvSpPr/>
          <p:nvPr/>
        </p:nvSpPr>
        <p:spPr>
          <a:xfrm>
            <a:off x="822960" y="1874520"/>
            <a:ext cx="10515600" cy="320040"/>
          </a:xfrm>
          <a:prstGeom prst="rect">
            <a:avLst/>
          </a:prstGeom>
          <a:noFill/>
          <a:ln/>
        </p:spPr>
        <p:txBody>
          <a:bodyPr wrap="square" rtlCol="0" anchor="ctr"/>
          <a:lstStyle/>
          <a:p>
            <a:pPr marL="0" indent="0">
              <a:buNone/>
            </a:pPr>
            <a:r>
              <a:rPr lang="en-US" sz="1300" b="1" kern="0" spc="300" dirty="0">
                <a:solidFill>
                  <a:srgbClr val="E64626"/>
                </a:solidFill>
                <a:latin typeface="Calibri" pitchFamily="34" charset="0"/>
                <a:ea typeface="Calibri" pitchFamily="34" charset="-122"/>
                <a:cs typeface="Calibri" pitchFamily="34" charset="-120"/>
              </a:rPr>
              <a:t>PRELIMINARY ANALYSIS  ·  FACEREADER SMILE DATA</a:t>
            </a:r>
            <a:endParaRPr lang="en-US" sz="1300" dirty="0"/>
          </a:p>
        </p:txBody>
      </p:sp>
      <p:sp>
        <p:nvSpPr>
          <p:cNvPr id="3" name="Text 1"/>
          <p:cNvSpPr/>
          <p:nvPr/>
        </p:nvSpPr>
        <p:spPr>
          <a:xfrm>
            <a:off x="822960" y="2286000"/>
            <a:ext cx="10515600" cy="146304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Can we tell a real smile</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from a performed one?</a:t>
            </a:r>
            <a:endParaRPr lang="en-US" sz="4000" dirty="0"/>
          </a:p>
        </p:txBody>
      </p:sp>
      <p:sp>
        <p:nvSpPr>
          <p:cNvPr id="4" name="Text 2"/>
          <p:cNvSpPr/>
          <p:nvPr/>
        </p:nvSpPr>
        <p:spPr>
          <a:xfrm>
            <a:off x="822960" y="3931920"/>
            <a:ext cx="10058400" cy="1097280"/>
          </a:xfrm>
          <a:prstGeom prst="rect">
            <a:avLst/>
          </a:prstGeom>
          <a:noFill/>
          <a:ln/>
        </p:spPr>
        <p:txBody>
          <a:bodyPr wrap="square" rtlCol="0" anchor="ctr"/>
          <a:lstStyle/>
          <a:p>
            <a:pPr marL="0" indent="0">
              <a:lnSpc>
                <a:spcPts val="2400"/>
              </a:lnSpc>
              <a:buNone/>
            </a:pPr>
            <a:r>
              <a:rPr lang="en-US" sz="1600" dirty="0">
                <a:solidFill>
                  <a:srgbClr val="B0BEC5"/>
                </a:solidFill>
                <a:latin typeface="Calibri" pitchFamily="34" charset="0"/>
                <a:ea typeface="Calibri" pitchFamily="34" charset="-122"/>
                <a:cs typeface="Calibri" pitchFamily="34" charset="-120"/>
              </a:rPr>
              <a:t>Delphine Dang, with Dr Jie Kang  ·  University </a:t>
            </a:r>
            <a:r>
              <a:rPr lang="en-US" sz="1600">
                <a:solidFill>
                  <a:srgbClr val="B0BEC5"/>
                </a:solidFill>
                <a:latin typeface="Calibri" pitchFamily="34" charset="0"/>
                <a:ea typeface="Calibri" pitchFamily="34" charset="-122"/>
                <a:cs typeface="Calibri" pitchFamily="34" charset="-120"/>
              </a:rPr>
              <a:t>of Sydney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Where the data stands</a:t>
            </a:r>
            <a:endParaRPr lang="en-US" sz="2700" dirty="0"/>
          </a:p>
        </p:txBody>
      </p:sp>
      <p:sp>
        <p:nvSpPr>
          <p:cNvPr id="3" name="Text 1"/>
          <p:cNvSpPr/>
          <p:nvPr/>
        </p:nvSpPr>
        <p:spPr>
          <a:xfrm>
            <a:off x="566928" y="1188720"/>
            <a:ext cx="10515600" cy="365760"/>
          </a:xfrm>
          <a:prstGeom prst="rect">
            <a:avLst/>
          </a:prstGeom>
          <a:noFill/>
          <a:ln/>
        </p:spPr>
        <p:txBody>
          <a:bodyPr wrap="square" rtlCol="0" anchor="ctr"/>
          <a:lstStyle/>
          <a:p>
            <a:pPr marL="0" indent="0">
              <a:buNone/>
            </a:pPr>
            <a:r>
              <a:rPr lang="en-US" sz="1500" dirty="0">
                <a:solidFill>
                  <a:srgbClr val="37474F"/>
                </a:solidFill>
                <a:latin typeface="Calibri" pitchFamily="34" charset="0"/>
                <a:ea typeface="Calibri" pitchFamily="34" charset="-122"/>
                <a:cs typeface="Calibri" pitchFamily="34" charset="-120"/>
              </a:rPr>
              <a:t>The study needs four groups. We have one.</a:t>
            </a:r>
            <a:endParaRPr lang="en-US" sz="1500" dirty="0"/>
          </a:p>
        </p:txBody>
      </p:sp>
      <p:sp>
        <p:nvSpPr>
          <p:cNvPr id="4" name="Shape 2"/>
          <p:cNvSpPr/>
          <p:nvPr/>
        </p:nvSpPr>
        <p:spPr>
          <a:xfrm>
            <a:off x="1463040" y="1965960"/>
            <a:ext cx="2834640" cy="1554480"/>
          </a:xfrm>
          <a:prstGeom prst="roundRect">
            <a:avLst>
              <a:gd name="adj" fmla="val 3529"/>
            </a:avLst>
          </a:prstGeom>
          <a:solidFill>
            <a:srgbClr val="37474F"/>
          </a:solidFill>
          <a:ln w="12700">
            <a:solidFill>
              <a:srgbClr val="37474F"/>
            </a:solidFill>
            <a:prstDash val="solid"/>
          </a:ln>
        </p:spPr>
        <p:txBody>
          <a:bodyPr/>
          <a:lstStyle/>
          <a:p>
            <a:endParaRPr lang="en-US"/>
          </a:p>
        </p:txBody>
      </p:sp>
      <p:sp>
        <p:nvSpPr>
          <p:cNvPr id="5" name="Text 3"/>
          <p:cNvSpPr/>
          <p:nvPr/>
        </p:nvSpPr>
        <p:spPr>
          <a:xfrm>
            <a:off x="1737360" y="2240280"/>
            <a:ext cx="2286000" cy="640080"/>
          </a:xfrm>
          <a:prstGeom prst="rect">
            <a:avLst/>
          </a:prstGeom>
          <a:noFill/>
          <a:ln/>
        </p:spPr>
        <p:txBody>
          <a:bodyPr wrap="square" lIns="0" tIns="0" rIns="0" bIns="0" rtlCol="0" anchor="ctr"/>
          <a:lstStyle/>
          <a:p>
            <a:pPr marL="0" indent="0">
              <a:lnSpc>
                <a:spcPts val="1800"/>
              </a:lnSpc>
              <a:buNone/>
            </a:pPr>
            <a:r>
              <a:rPr lang="en-US" sz="1400" b="1" dirty="0">
                <a:solidFill>
                  <a:srgbClr val="FFFFFF"/>
                </a:solidFill>
                <a:latin typeface="Calibri" pitchFamily="34" charset="0"/>
                <a:ea typeface="Calibri" pitchFamily="34" charset="-122"/>
                <a:cs typeface="Calibri" pitchFamily="34" charset="-120"/>
              </a:rPr>
              <a:t>Chinese</a:t>
            </a:r>
            <a:endParaRPr lang="en-US" sz="1400" dirty="0"/>
          </a:p>
          <a:p>
            <a:pPr marL="0" indent="0">
              <a:lnSpc>
                <a:spcPts val="1800"/>
              </a:lnSpc>
              <a:buNone/>
            </a:pPr>
            <a:r>
              <a:rPr lang="en-US" sz="1400" b="1" dirty="0">
                <a:solidFill>
                  <a:srgbClr val="FFFFFF"/>
                </a:solidFill>
                <a:latin typeface="Calibri" pitchFamily="34" charset="0"/>
                <a:ea typeface="Calibri" pitchFamily="34" charset="-122"/>
                <a:cs typeface="Calibri" pitchFamily="34" charset="-120"/>
              </a:rPr>
              <a:t>genuine</a:t>
            </a:r>
            <a:endParaRPr lang="en-US" sz="1400" dirty="0"/>
          </a:p>
        </p:txBody>
      </p:sp>
      <p:sp>
        <p:nvSpPr>
          <p:cNvPr id="6" name="Text 4"/>
          <p:cNvSpPr/>
          <p:nvPr/>
        </p:nvSpPr>
        <p:spPr>
          <a:xfrm>
            <a:off x="1737360" y="2926080"/>
            <a:ext cx="2286000" cy="365760"/>
          </a:xfrm>
          <a:prstGeom prst="rect">
            <a:avLst/>
          </a:prstGeom>
          <a:noFill/>
          <a:ln/>
        </p:spPr>
        <p:txBody>
          <a:bodyPr wrap="square" lIns="0" tIns="0" rIns="0" bIns="0" rtlCol="0" anchor="ctr"/>
          <a:lstStyle/>
          <a:p>
            <a:pPr marL="0" indent="0">
              <a:buNone/>
            </a:pPr>
            <a:r>
              <a:rPr lang="en-US" sz="1300" dirty="0">
                <a:solidFill>
                  <a:srgbClr val="B0BEC5"/>
                </a:solidFill>
                <a:latin typeface="Calibri" pitchFamily="34" charset="0"/>
                <a:ea typeface="Calibri" pitchFamily="34" charset="-122"/>
                <a:cs typeface="Calibri" pitchFamily="34" charset="-120"/>
              </a:rPr>
              <a:t>93 clips</a:t>
            </a:r>
            <a:endParaRPr lang="en-US" sz="1300" dirty="0"/>
          </a:p>
        </p:txBody>
      </p:sp>
      <p:sp>
        <p:nvSpPr>
          <p:cNvPr id="7" name="Shape 5"/>
          <p:cNvSpPr/>
          <p:nvPr/>
        </p:nvSpPr>
        <p:spPr>
          <a:xfrm>
            <a:off x="4572000" y="1965960"/>
            <a:ext cx="2834640" cy="1554480"/>
          </a:xfrm>
          <a:prstGeom prst="roundRect">
            <a:avLst>
              <a:gd name="adj" fmla="val 3529"/>
            </a:avLst>
          </a:prstGeom>
          <a:solidFill>
            <a:srgbClr val="FFFFFF"/>
          </a:solidFill>
          <a:ln w="19050">
            <a:solidFill>
              <a:srgbClr val="CFD8DC"/>
            </a:solidFill>
            <a:prstDash val="dash"/>
          </a:ln>
        </p:spPr>
        <p:txBody>
          <a:bodyPr/>
          <a:lstStyle/>
          <a:p>
            <a:endParaRPr lang="en-US"/>
          </a:p>
        </p:txBody>
      </p:sp>
      <p:sp>
        <p:nvSpPr>
          <p:cNvPr id="8" name="Text 6"/>
          <p:cNvSpPr/>
          <p:nvPr/>
        </p:nvSpPr>
        <p:spPr>
          <a:xfrm>
            <a:off x="4846320" y="2240280"/>
            <a:ext cx="2286000" cy="640080"/>
          </a:xfrm>
          <a:prstGeom prst="rect">
            <a:avLst/>
          </a:prstGeom>
          <a:noFill/>
          <a:ln/>
        </p:spPr>
        <p:txBody>
          <a:bodyPr wrap="square" lIns="0" tIns="0" rIns="0" bIns="0" rtlCol="0" anchor="ctr"/>
          <a:lstStyle/>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Chinese</a:t>
            </a:r>
            <a:endParaRPr lang="en-US" sz="1400" dirty="0"/>
          </a:p>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performed</a:t>
            </a:r>
            <a:endParaRPr lang="en-US" sz="1400" dirty="0"/>
          </a:p>
        </p:txBody>
      </p:sp>
      <p:sp>
        <p:nvSpPr>
          <p:cNvPr id="9" name="Text 7"/>
          <p:cNvSpPr/>
          <p:nvPr/>
        </p:nvSpPr>
        <p:spPr>
          <a:xfrm>
            <a:off x="4846320" y="2926080"/>
            <a:ext cx="2286000" cy="365760"/>
          </a:xfrm>
          <a:prstGeom prst="rect">
            <a:avLst/>
          </a:prstGeom>
          <a:noFill/>
          <a:ln/>
        </p:spPr>
        <p:txBody>
          <a:bodyPr wrap="square" lIns="0" tIns="0" rIns="0" bIns="0" rtlCol="0" anchor="ctr"/>
          <a:lstStyle/>
          <a:p>
            <a:pPr marL="0" indent="0">
              <a:buNone/>
            </a:pPr>
            <a:r>
              <a:rPr lang="en-US" sz="1300" dirty="0">
                <a:solidFill>
                  <a:srgbClr val="78909C"/>
                </a:solidFill>
                <a:latin typeface="Calibri" pitchFamily="34" charset="0"/>
                <a:ea typeface="Calibri" pitchFamily="34" charset="-122"/>
                <a:cs typeface="Calibri" pitchFamily="34" charset="-120"/>
              </a:rPr>
              <a:t>1 clip</a:t>
            </a:r>
            <a:endParaRPr lang="en-US" sz="1300" dirty="0"/>
          </a:p>
        </p:txBody>
      </p:sp>
      <p:sp>
        <p:nvSpPr>
          <p:cNvPr id="10" name="Shape 8"/>
          <p:cNvSpPr/>
          <p:nvPr/>
        </p:nvSpPr>
        <p:spPr>
          <a:xfrm>
            <a:off x="1463040" y="3794760"/>
            <a:ext cx="2834640" cy="1554480"/>
          </a:xfrm>
          <a:prstGeom prst="roundRect">
            <a:avLst>
              <a:gd name="adj" fmla="val 3529"/>
            </a:avLst>
          </a:prstGeom>
          <a:solidFill>
            <a:srgbClr val="FFFFFF"/>
          </a:solidFill>
          <a:ln w="19050">
            <a:solidFill>
              <a:srgbClr val="CFD8DC"/>
            </a:solidFill>
            <a:prstDash val="dash"/>
          </a:ln>
        </p:spPr>
        <p:txBody>
          <a:bodyPr/>
          <a:lstStyle/>
          <a:p>
            <a:endParaRPr lang="en-US"/>
          </a:p>
        </p:txBody>
      </p:sp>
      <p:sp>
        <p:nvSpPr>
          <p:cNvPr id="11" name="Text 9"/>
          <p:cNvSpPr/>
          <p:nvPr/>
        </p:nvSpPr>
        <p:spPr>
          <a:xfrm>
            <a:off x="1737360" y="4069080"/>
            <a:ext cx="2286000" cy="640080"/>
          </a:xfrm>
          <a:prstGeom prst="rect">
            <a:avLst/>
          </a:prstGeom>
          <a:noFill/>
          <a:ln/>
        </p:spPr>
        <p:txBody>
          <a:bodyPr wrap="square" lIns="0" tIns="0" rIns="0" bIns="0" rtlCol="0" anchor="ctr"/>
          <a:lstStyle/>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NZ European</a:t>
            </a:r>
            <a:endParaRPr lang="en-US" sz="1400" dirty="0"/>
          </a:p>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genuine</a:t>
            </a:r>
            <a:endParaRPr lang="en-US" sz="1400" dirty="0"/>
          </a:p>
        </p:txBody>
      </p:sp>
      <p:sp>
        <p:nvSpPr>
          <p:cNvPr id="12" name="Text 10"/>
          <p:cNvSpPr/>
          <p:nvPr/>
        </p:nvSpPr>
        <p:spPr>
          <a:xfrm>
            <a:off x="1737360" y="4754880"/>
            <a:ext cx="2286000" cy="365760"/>
          </a:xfrm>
          <a:prstGeom prst="rect">
            <a:avLst/>
          </a:prstGeom>
          <a:noFill/>
          <a:ln/>
        </p:spPr>
        <p:txBody>
          <a:bodyPr wrap="square" lIns="0" tIns="0" rIns="0" bIns="0" rtlCol="0" anchor="ctr"/>
          <a:lstStyle/>
          <a:p>
            <a:pPr marL="0" indent="0">
              <a:buNone/>
            </a:pPr>
            <a:r>
              <a:rPr lang="en-US" sz="1300" dirty="0">
                <a:solidFill>
                  <a:srgbClr val="78909C"/>
                </a:solidFill>
                <a:latin typeface="Calibri" pitchFamily="34" charset="0"/>
                <a:ea typeface="Calibri" pitchFamily="34" charset="-122"/>
                <a:cs typeface="Calibri" pitchFamily="34" charset="-120"/>
              </a:rPr>
              <a:t>none yet</a:t>
            </a:r>
            <a:endParaRPr lang="en-US" sz="1300" dirty="0"/>
          </a:p>
        </p:txBody>
      </p:sp>
      <p:sp>
        <p:nvSpPr>
          <p:cNvPr id="13" name="Shape 11"/>
          <p:cNvSpPr/>
          <p:nvPr/>
        </p:nvSpPr>
        <p:spPr>
          <a:xfrm>
            <a:off x="4572000" y="3794760"/>
            <a:ext cx="2834640" cy="1554480"/>
          </a:xfrm>
          <a:prstGeom prst="roundRect">
            <a:avLst>
              <a:gd name="adj" fmla="val 3529"/>
            </a:avLst>
          </a:prstGeom>
          <a:solidFill>
            <a:srgbClr val="FFFFFF"/>
          </a:solidFill>
          <a:ln w="19050">
            <a:solidFill>
              <a:srgbClr val="CFD8DC"/>
            </a:solidFill>
            <a:prstDash val="dash"/>
          </a:ln>
        </p:spPr>
        <p:txBody>
          <a:bodyPr/>
          <a:lstStyle/>
          <a:p>
            <a:endParaRPr lang="en-US"/>
          </a:p>
        </p:txBody>
      </p:sp>
      <p:sp>
        <p:nvSpPr>
          <p:cNvPr id="14" name="Text 12"/>
          <p:cNvSpPr/>
          <p:nvPr/>
        </p:nvSpPr>
        <p:spPr>
          <a:xfrm>
            <a:off x="4846320" y="4069080"/>
            <a:ext cx="2286000" cy="640080"/>
          </a:xfrm>
          <a:prstGeom prst="rect">
            <a:avLst/>
          </a:prstGeom>
          <a:noFill/>
          <a:ln/>
        </p:spPr>
        <p:txBody>
          <a:bodyPr wrap="square" lIns="0" tIns="0" rIns="0" bIns="0" rtlCol="0" anchor="ctr"/>
          <a:lstStyle/>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NZ European</a:t>
            </a:r>
            <a:endParaRPr lang="en-US" sz="1400" dirty="0"/>
          </a:p>
          <a:p>
            <a:pPr marL="0" indent="0">
              <a:lnSpc>
                <a:spcPts val="1800"/>
              </a:lnSpc>
              <a:buNone/>
            </a:pPr>
            <a:r>
              <a:rPr lang="en-US" sz="1400" b="1" dirty="0">
                <a:solidFill>
                  <a:srgbClr val="78909C"/>
                </a:solidFill>
                <a:latin typeface="Calibri" pitchFamily="34" charset="0"/>
                <a:ea typeface="Calibri" pitchFamily="34" charset="-122"/>
                <a:cs typeface="Calibri" pitchFamily="34" charset="-120"/>
              </a:rPr>
              <a:t>performed</a:t>
            </a:r>
            <a:endParaRPr lang="en-US" sz="1400" dirty="0"/>
          </a:p>
        </p:txBody>
      </p:sp>
      <p:sp>
        <p:nvSpPr>
          <p:cNvPr id="15" name="Text 13"/>
          <p:cNvSpPr/>
          <p:nvPr/>
        </p:nvSpPr>
        <p:spPr>
          <a:xfrm>
            <a:off x="4846320" y="4754880"/>
            <a:ext cx="2286000" cy="365760"/>
          </a:xfrm>
          <a:prstGeom prst="rect">
            <a:avLst/>
          </a:prstGeom>
          <a:noFill/>
          <a:ln/>
        </p:spPr>
        <p:txBody>
          <a:bodyPr wrap="square" lIns="0" tIns="0" rIns="0" bIns="0" rtlCol="0" anchor="ctr"/>
          <a:lstStyle/>
          <a:p>
            <a:pPr marL="0" indent="0">
              <a:buNone/>
            </a:pPr>
            <a:r>
              <a:rPr lang="en-US" sz="1300" dirty="0">
                <a:solidFill>
                  <a:srgbClr val="78909C"/>
                </a:solidFill>
                <a:latin typeface="Calibri" pitchFamily="34" charset="0"/>
                <a:ea typeface="Calibri" pitchFamily="34" charset="-122"/>
                <a:cs typeface="Calibri" pitchFamily="34" charset="-120"/>
              </a:rPr>
              <a:t>none yet</a:t>
            </a:r>
            <a:endParaRPr lang="en-US" sz="1300" dirty="0"/>
          </a:p>
        </p:txBody>
      </p:sp>
      <p:sp>
        <p:nvSpPr>
          <p:cNvPr id="16" name="Shape 14"/>
          <p:cNvSpPr/>
          <p:nvPr/>
        </p:nvSpPr>
        <p:spPr>
          <a:xfrm>
            <a:off x="7863840" y="1965960"/>
            <a:ext cx="3749040" cy="3383280"/>
          </a:xfrm>
          <a:prstGeom prst="roundRect">
            <a:avLst>
              <a:gd name="adj" fmla="val 1622"/>
            </a:avLst>
          </a:prstGeom>
          <a:solidFill>
            <a:srgbClr val="ECEFF1"/>
          </a:solidFill>
          <a:ln w="12700">
            <a:solidFill>
              <a:srgbClr val="ECEFF1"/>
            </a:solidFill>
            <a:prstDash val="solid"/>
          </a:ln>
        </p:spPr>
        <p:txBody>
          <a:bodyPr/>
          <a:lstStyle/>
          <a:p>
            <a:endParaRPr lang="en-US"/>
          </a:p>
        </p:txBody>
      </p:sp>
      <p:sp>
        <p:nvSpPr>
          <p:cNvPr id="17" name="Text 15"/>
          <p:cNvSpPr/>
          <p:nvPr/>
        </p:nvSpPr>
        <p:spPr>
          <a:xfrm>
            <a:off x="8156448" y="2167128"/>
            <a:ext cx="318211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So what can I say today?</a:t>
            </a:r>
            <a:endParaRPr lang="en-US" sz="1500" dirty="0"/>
          </a:p>
        </p:txBody>
      </p:sp>
      <p:sp>
        <p:nvSpPr>
          <p:cNvPr id="18" name="Text 16"/>
          <p:cNvSpPr/>
          <p:nvPr/>
        </p:nvSpPr>
        <p:spPr>
          <a:xfrm>
            <a:off x="8156448" y="2642616"/>
            <a:ext cx="3182112" cy="250545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Nothing yet about whether real and performed smiles differ — there is nothing to compare against.</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What I can report is how these measurements behave, and four problems that are much cheaper to fix now than later.</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The pipeline switches on by itself when the rest arrives.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Your original question: which analysis?</a:t>
            </a:r>
            <a:endParaRPr lang="en-US" sz="2700" dirty="0"/>
          </a:p>
        </p:txBody>
      </p:sp>
      <p:sp>
        <p:nvSpPr>
          <p:cNvPr id="3" name="Text 1"/>
          <p:cNvSpPr/>
          <p:nvPr/>
        </p:nvSpPr>
        <p:spPr>
          <a:xfrm>
            <a:off x="566928" y="1143000"/>
            <a:ext cx="10789920" cy="365760"/>
          </a:xfrm>
          <a:prstGeom prst="rect">
            <a:avLst/>
          </a:prstGeom>
          <a:noFill/>
          <a:ln/>
        </p:spPr>
        <p:txBody>
          <a:bodyPr wrap="square" rtlCol="0" anchor="ctr"/>
          <a:lstStyle/>
          <a:p>
            <a:pPr marL="0" indent="0">
              <a:buNone/>
            </a:pPr>
            <a:r>
              <a:rPr lang="en-US" sz="1550" dirty="0">
                <a:solidFill>
                  <a:srgbClr val="37474F"/>
                </a:solidFill>
                <a:latin typeface="Calibri" pitchFamily="34" charset="0"/>
                <a:ea typeface="Calibri" pitchFamily="34" charset="-122"/>
                <a:cs typeface="Calibri" pitchFamily="34" charset="-120"/>
              </a:rPr>
              <a:t>A linear mixed model, not repeated-measures ANOVA. Your own data shows why.</a:t>
            </a:r>
            <a:endParaRPr lang="en-US" sz="1550" dirty="0"/>
          </a:p>
        </p:txBody>
      </p:sp>
      <p:sp>
        <p:nvSpPr>
          <p:cNvPr id="4" name="Text 2"/>
          <p:cNvSpPr/>
          <p:nvPr/>
        </p:nvSpPr>
        <p:spPr>
          <a:xfrm>
            <a:off x="566928" y="1828800"/>
            <a:ext cx="3108960" cy="868680"/>
          </a:xfrm>
          <a:prstGeom prst="rect">
            <a:avLst/>
          </a:prstGeom>
          <a:noFill/>
          <a:ln/>
        </p:spPr>
        <p:txBody>
          <a:bodyPr wrap="square" lIns="0" tIns="0" rIns="0" bIns="0" rtlCol="0" anchor="ctr"/>
          <a:lstStyle/>
          <a:p>
            <a:pPr marL="0" indent="0" algn="l">
              <a:buNone/>
            </a:pPr>
            <a:r>
              <a:rPr lang="en-US" sz="5000" b="1" dirty="0">
                <a:solidFill>
                  <a:srgbClr val="37474F"/>
                </a:solidFill>
                <a:latin typeface="Cambria" pitchFamily="34" charset="0"/>
                <a:ea typeface="Cambria" pitchFamily="34" charset="-122"/>
                <a:cs typeface="Cambria" pitchFamily="34" charset="-120"/>
              </a:rPr>
              <a:t>16</a:t>
            </a:r>
            <a:endParaRPr lang="en-US" sz="5000" dirty="0"/>
          </a:p>
        </p:txBody>
      </p:sp>
      <p:sp>
        <p:nvSpPr>
          <p:cNvPr id="5" name="Text 3"/>
          <p:cNvSpPr/>
          <p:nvPr/>
        </p:nvSpPr>
        <p:spPr>
          <a:xfrm>
            <a:off x="566928" y="2697480"/>
            <a:ext cx="310896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people</a:t>
            </a:r>
            <a:endParaRPr lang="en-US" sz="1350" dirty="0"/>
          </a:p>
        </p:txBody>
      </p:sp>
      <p:sp>
        <p:nvSpPr>
          <p:cNvPr id="6" name="Text 4"/>
          <p:cNvSpPr/>
          <p:nvPr/>
        </p:nvSpPr>
        <p:spPr>
          <a:xfrm>
            <a:off x="3566160" y="1828800"/>
            <a:ext cx="3108960" cy="868680"/>
          </a:xfrm>
          <a:prstGeom prst="rect">
            <a:avLst/>
          </a:prstGeom>
          <a:noFill/>
          <a:ln/>
        </p:spPr>
        <p:txBody>
          <a:bodyPr wrap="square" lIns="0" tIns="0" rIns="0" bIns="0" rtlCol="0" anchor="ctr"/>
          <a:lstStyle/>
          <a:p>
            <a:pPr marL="0" indent="0" algn="l">
              <a:buNone/>
            </a:pPr>
            <a:r>
              <a:rPr lang="en-US" sz="5000" b="1" dirty="0">
                <a:solidFill>
                  <a:srgbClr val="37474F"/>
                </a:solidFill>
                <a:latin typeface="Cambria" pitchFamily="34" charset="0"/>
                <a:ea typeface="Cambria" pitchFamily="34" charset="-122"/>
                <a:cs typeface="Cambria" pitchFamily="34" charset="-120"/>
              </a:rPr>
              <a:t>93</a:t>
            </a:r>
            <a:endParaRPr lang="en-US" sz="5000" dirty="0"/>
          </a:p>
        </p:txBody>
      </p:sp>
      <p:sp>
        <p:nvSpPr>
          <p:cNvPr id="7" name="Text 5"/>
          <p:cNvSpPr/>
          <p:nvPr/>
        </p:nvSpPr>
        <p:spPr>
          <a:xfrm>
            <a:off x="3566160" y="2697480"/>
            <a:ext cx="310896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smiles between them</a:t>
            </a:r>
            <a:endParaRPr lang="en-US" sz="1350" dirty="0"/>
          </a:p>
        </p:txBody>
      </p:sp>
      <p:sp>
        <p:nvSpPr>
          <p:cNvPr id="8" name="Text 6"/>
          <p:cNvSpPr/>
          <p:nvPr/>
        </p:nvSpPr>
        <p:spPr>
          <a:xfrm>
            <a:off x="6583680" y="1828800"/>
            <a:ext cx="4206240" cy="868680"/>
          </a:xfrm>
          <a:prstGeom prst="rect">
            <a:avLst/>
          </a:prstGeom>
          <a:noFill/>
          <a:ln/>
        </p:spPr>
        <p:txBody>
          <a:bodyPr wrap="square" lIns="0" tIns="0" rIns="0" bIns="0" rtlCol="0" anchor="ctr"/>
          <a:lstStyle/>
          <a:p>
            <a:pPr marL="0" indent="0" algn="l">
              <a:buNone/>
            </a:pPr>
            <a:r>
              <a:rPr lang="en-US" sz="5000" b="1" dirty="0">
                <a:solidFill>
                  <a:srgbClr val="E64626"/>
                </a:solidFill>
                <a:latin typeface="Cambria" pitchFamily="34" charset="0"/>
                <a:ea typeface="Cambria" pitchFamily="34" charset="-122"/>
                <a:cs typeface="Cambria" pitchFamily="34" charset="-120"/>
              </a:rPr>
              <a:t>≈ 23</a:t>
            </a:r>
            <a:endParaRPr lang="en-US" sz="5000" dirty="0"/>
          </a:p>
        </p:txBody>
      </p:sp>
      <p:sp>
        <p:nvSpPr>
          <p:cNvPr id="9" name="Text 7"/>
          <p:cNvSpPr/>
          <p:nvPr/>
        </p:nvSpPr>
        <p:spPr>
          <a:xfrm>
            <a:off x="6583680" y="2697480"/>
            <a:ext cx="420624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independent pieces</a:t>
            </a:r>
            <a:endParaRPr lang="en-US" sz="1350" dirty="0"/>
          </a:p>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of information</a:t>
            </a:r>
            <a:endParaRPr lang="en-US" sz="1350" dirty="0"/>
          </a:p>
        </p:txBody>
      </p:sp>
      <p:sp>
        <p:nvSpPr>
          <p:cNvPr id="10" name="Shape 8"/>
          <p:cNvSpPr/>
          <p:nvPr/>
        </p:nvSpPr>
        <p:spPr>
          <a:xfrm>
            <a:off x="566928" y="3977640"/>
            <a:ext cx="5394960" cy="2194560"/>
          </a:xfrm>
          <a:prstGeom prst="roundRect">
            <a:avLst>
              <a:gd name="adj" fmla="val 2500"/>
            </a:avLst>
          </a:prstGeom>
          <a:solidFill>
            <a:srgbClr val="ECEFF1"/>
          </a:solidFill>
          <a:ln w="12700">
            <a:solidFill>
              <a:srgbClr val="ECEFF1"/>
            </a:solidFill>
            <a:prstDash val="solid"/>
          </a:ln>
        </p:spPr>
        <p:txBody>
          <a:bodyPr/>
          <a:lstStyle/>
          <a:p>
            <a:endParaRPr lang="en-US"/>
          </a:p>
        </p:txBody>
      </p:sp>
      <p:sp>
        <p:nvSpPr>
          <p:cNvPr id="11" name="Text 9"/>
          <p:cNvSpPr/>
          <p:nvPr/>
        </p:nvSpPr>
        <p:spPr>
          <a:xfrm>
            <a:off x="859536" y="4178808"/>
            <a:ext cx="482803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Why the number drops</a:t>
            </a:r>
            <a:endParaRPr lang="en-US" sz="1500" dirty="0"/>
          </a:p>
        </p:txBody>
      </p:sp>
      <p:sp>
        <p:nvSpPr>
          <p:cNvPr id="12" name="Text 10"/>
          <p:cNvSpPr/>
          <p:nvPr/>
        </p:nvSpPr>
        <p:spPr>
          <a:xfrm>
            <a:off x="859536" y="4654296"/>
            <a:ext cx="4828032" cy="13167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Six smiles from one person are not six separate facts — people repeat themselves. Some are simply more expressive than others.</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On our data, 64% of all variation is between people rather than between one person's own smiles.</a:t>
            </a:r>
            <a:endParaRPr lang="en-US" sz="1250" dirty="0"/>
          </a:p>
        </p:txBody>
      </p:sp>
      <p:sp>
        <p:nvSpPr>
          <p:cNvPr id="13" name="Shape 11"/>
          <p:cNvSpPr/>
          <p:nvPr/>
        </p:nvSpPr>
        <p:spPr>
          <a:xfrm>
            <a:off x="6263640" y="3977640"/>
            <a:ext cx="5349240" cy="2194560"/>
          </a:xfrm>
          <a:prstGeom prst="roundRect">
            <a:avLst>
              <a:gd name="adj" fmla="val 2500"/>
            </a:avLst>
          </a:prstGeom>
          <a:solidFill>
            <a:srgbClr val="ECEFF1"/>
          </a:solidFill>
          <a:ln w="12700">
            <a:solidFill>
              <a:srgbClr val="ECEFF1"/>
            </a:solidFill>
            <a:prstDash val="solid"/>
          </a:ln>
        </p:spPr>
        <p:txBody>
          <a:bodyPr/>
          <a:lstStyle/>
          <a:p>
            <a:endParaRPr lang="en-US"/>
          </a:p>
        </p:txBody>
      </p:sp>
      <p:sp>
        <p:nvSpPr>
          <p:cNvPr id="14" name="Text 12"/>
          <p:cNvSpPr/>
          <p:nvPr/>
        </p:nvSpPr>
        <p:spPr>
          <a:xfrm>
            <a:off x="6556248" y="4178808"/>
            <a:ext cx="478231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What that rules out</a:t>
            </a:r>
            <a:endParaRPr lang="en-US" sz="1500" dirty="0"/>
          </a:p>
        </p:txBody>
      </p:sp>
      <p:sp>
        <p:nvSpPr>
          <p:cNvPr id="15" name="Text 13"/>
          <p:cNvSpPr/>
          <p:nvPr/>
        </p:nvSpPr>
        <p:spPr>
          <a:xfrm>
            <a:off x="6556248" y="4654296"/>
            <a:ext cx="4782312" cy="13167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Repeated-measures ANOVA needs one score per person, so it would average that structure away — treating someone who gave one smile as being as reliable as someone who gave eight.</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A mixed model keeps every smile and accounts for who it came from.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People differ enormously in how they smile</a:t>
            </a:r>
            <a:endParaRPr lang="en-US" sz="2700" dirty="0"/>
          </a:p>
        </p:txBody>
      </p:sp>
      <p:pic>
        <p:nvPicPr>
          <p:cNvPr id="3" name="Image 0" descr="preencoded.png"/>
          <p:cNvPicPr>
            <a:picLocks noChangeAspect="1"/>
          </p:cNvPicPr>
          <p:nvPr/>
        </p:nvPicPr>
        <p:blipFill>
          <a:blip r:embed="rId3"/>
          <a:stretch>
            <a:fillRect/>
          </a:stretch>
        </p:blipFill>
        <p:spPr>
          <a:xfrm>
            <a:off x="2152904" y="1216491"/>
            <a:ext cx="7886192" cy="525746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685800" cy="685800"/>
          </a:xfrm>
          <a:prstGeom prst="ellipse">
            <a:avLst/>
          </a:prstGeom>
          <a:solidFill>
            <a:srgbClr val="E64626"/>
          </a:solid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 name="Text 1"/>
          <p:cNvSpPr/>
          <p:nvPr/>
        </p:nvSpPr>
        <p:spPr>
          <a:xfrm>
            <a:off x="1417320"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The clips were cut too tightly</a:t>
            </a:r>
            <a:endParaRPr lang="en-US" sz="2700" dirty="0"/>
          </a:p>
        </p:txBody>
      </p:sp>
      <p:pic>
        <p:nvPicPr>
          <p:cNvPr id="4" name="Image 0" descr="preencoded.png"/>
          <p:cNvPicPr>
            <a:picLocks noChangeAspect="1"/>
          </p:cNvPicPr>
          <p:nvPr/>
        </p:nvPicPr>
        <p:blipFill>
          <a:blip r:embed="rId3"/>
          <a:stretch>
            <a:fillRect/>
          </a:stretch>
        </p:blipFill>
        <p:spPr>
          <a:xfrm>
            <a:off x="566928" y="1325880"/>
            <a:ext cx="6400800" cy="3291840"/>
          </a:xfrm>
          <a:prstGeom prst="rect">
            <a:avLst/>
          </a:prstGeom>
        </p:spPr>
      </p:pic>
      <p:sp>
        <p:nvSpPr>
          <p:cNvPr id="5" name="Text 2"/>
          <p:cNvSpPr/>
          <p:nvPr/>
        </p:nvSpPr>
        <p:spPr>
          <a:xfrm>
            <a:off x="566928" y="4754880"/>
            <a:ext cx="6583680" cy="731520"/>
          </a:xfrm>
          <a:prstGeom prst="rect">
            <a:avLst/>
          </a:prstGeom>
          <a:noFill/>
          <a:ln/>
        </p:spPr>
        <p:txBody>
          <a:bodyPr wrap="square" rtlCol="0" anchor="ctr"/>
          <a:lstStyle/>
          <a:p>
            <a:pPr marL="0" indent="0">
              <a:lnSpc>
                <a:spcPts val="1900"/>
              </a:lnSpc>
              <a:buNone/>
            </a:pPr>
            <a:r>
              <a:rPr lang="en-US" sz="1400" dirty="0">
                <a:solidFill>
                  <a:srgbClr val="37474F"/>
                </a:solidFill>
                <a:latin typeface="Calibri" pitchFamily="34" charset="0"/>
                <a:ea typeface="Calibri" pitchFamily="34" charset="-122"/>
                <a:cs typeface="Calibri" pitchFamily="34" charset="-120"/>
              </a:rPr>
              <a:t>Most clips start after the smile began and end before it finished.</a:t>
            </a:r>
            <a:endParaRPr lang="en-US" sz="1400" dirty="0"/>
          </a:p>
        </p:txBody>
      </p:sp>
      <p:sp>
        <p:nvSpPr>
          <p:cNvPr id="6" name="Shape 3"/>
          <p:cNvSpPr/>
          <p:nvPr/>
        </p:nvSpPr>
        <p:spPr>
          <a:xfrm>
            <a:off x="7315200" y="1325880"/>
            <a:ext cx="4297680" cy="2011680"/>
          </a:xfrm>
          <a:prstGeom prst="roundRect">
            <a:avLst>
              <a:gd name="adj" fmla="val 2727"/>
            </a:avLst>
          </a:prstGeom>
          <a:solidFill>
            <a:srgbClr val="ECEFF1"/>
          </a:solidFill>
          <a:ln w="12700">
            <a:solidFill>
              <a:srgbClr val="ECEFF1"/>
            </a:solidFill>
            <a:prstDash val="solid"/>
          </a:ln>
        </p:spPr>
        <p:txBody>
          <a:bodyPr/>
          <a:lstStyle/>
          <a:p>
            <a:endParaRPr lang="en-US"/>
          </a:p>
        </p:txBody>
      </p:sp>
      <p:sp>
        <p:nvSpPr>
          <p:cNvPr id="7" name="Text 4"/>
          <p:cNvSpPr/>
          <p:nvPr/>
        </p:nvSpPr>
        <p:spPr>
          <a:xfrm>
            <a:off x="7607808" y="1527048"/>
            <a:ext cx="373075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What this costs us</a:t>
            </a:r>
            <a:endParaRPr lang="en-US" sz="1500" dirty="0"/>
          </a:p>
        </p:txBody>
      </p:sp>
      <p:sp>
        <p:nvSpPr>
          <p:cNvPr id="8" name="Text 5"/>
          <p:cNvSpPr/>
          <p:nvPr/>
        </p:nvSpPr>
        <p:spPr>
          <a:xfrm>
            <a:off x="7607808" y="2002536"/>
            <a:ext cx="3730752" cy="113385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Onset, offset and true duration cannot be measured. A recorded length of 3 seconds only means “at least 3 seconds”.</a:t>
            </a:r>
            <a:endParaRPr lang="en-US" sz="1250" dirty="0"/>
          </a:p>
          <a:p>
            <a:pPr marL="0" indent="0">
              <a:lnSpc>
                <a:spcPts val="1700"/>
              </a:lnSpc>
              <a:buNone/>
            </a:pPr>
            <a:endParaRPr lang="en-US" sz="1250" dirty="0"/>
          </a:p>
        </p:txBody>
      </p:sp>
      <p:sp>
        <p:nvSpPr>
          <p:cNvPr id="9" name="Shape 6"/>
          <p:cNvSpPr/>
          <p:nvPr/>
        </p:nvSpPr>
        <p:spPr>
          <a:xfrm>
            <a:off x="7315200" y="3566160"/>
            <a:ext cx="4297680" cy="2194560"/>
          </a:xfrm>
          <a:prstGeom prst="roundRect">
            <a:avLst>
              <a:gd name="adj" fmla="val 2500"/>
            </a:avLst>
          </a:prstGeom>
          <a:solidFill>
            <a:srgbClr val="ECEFF1"/>
          </a:solidFill>
          <a:ln w="12700">
            <a:solidFill>
              <a:srgbClr val="ECEFF1"/>
            </a:solidFill>
            <a:prstDash val="solid"/>
          </a:ln>
        </p:spPr>
        <p:txBody>
          <a:bodyPr/>
          <a:lstStyle/>
          <a:p>
            <a:endParaRPr lang="en-US"/>
          </a:p>
        </p:txBody>
      </p:sp>
      <p:sp>
        <p:nvSpPr>
          <p:cNvPr id="10" name="Text 7"/>
          <p:cNvSpPr/>
          <p:nvPr/>
        </p:nvSpPr>
        <p:spPr>
          <a:xfrm>
            <a:off x="7607808" y="3767328"/>
            <a:ext cx="373075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The fix, and it is a big one</a:t>
            </a:r>
            <a:endParaRPr lang="en-US" sz="1500" dirty="0"/>
          </a:p>
        </p:txBody>
      </p:sp>
      <p:sp>
        <p:nvSpPr>
          <p:cNvPr id="11" name="Text 8"/>
          <p:cNvSpPr/>
          <p:nvPr/>
        </p:nvSpPr>
        <p:spPr>
          <a:xfrm>
            <a:off x="7607808" y="4242816"/>
            <a:ext cx="3730752" cy="13167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If the original full-length recordings still exist, re-cutting each clip with about 2 seconds either side would recover all three measures.</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Timing is one of the more reliable ways to separate real from performed smiles. This is the single most valuable thing available to us.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685800" cy="685800"/>
          </a:xfrm>
          <a:prstGeom prst="ellipse">
            <a:avLst/>
          </a:prstGeom>
          <a:solidFill>
            <a:srgbClr val="E64626"/>
          </a:solid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 name="Text 1"/>
          <p:cNvSpPr/>
          <p:nvPr/>
        </p:nvSpPr>
        <p:spPr>
          <a:xfrm>
            <a:off x="1417320"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Longer clips look like bigger smiles</a:t>
            </a:r>
            <a:endParaRPr lang="en-US" sz="2700" dirty="0"/>
          </a:p>
        </p:txBody>
      </p:sp>
      <p:pic>
        <p:nvPicPr>
          <p:cNvPr id="4" name="Image 0" descr="preencoded.png"/>
          <p:cNvPicPr>
            <a:picLocks noChangeAspect="1"/>
          </p:cNvPicPr>
          <p:nvPr/>
        </p:nvPicPr>
        <p:blipFill>
          <a:blip r:embed="rId3"/>
          <a:stretch>
            <a:fillRect/>
          </a:stretch>
        </p:blipFill>
        <p:spPr>
          <a:xfrm>
            <a:off x="566928" y="1325880"/>
            <a:ext cx="6949440" cy="3383280"/>
          </a:xfrm>
          <a:prstGeom prst="rect">
            <a:avLst/>
          </a:prstGeom>
        </p:spPr>
      </p:pic>
      <p:sp>
        <p:nvSpPr>
          <p:cNvPr id="5" name="Text 2"/>
          <p:cNvSpPr/>
          <p:nvPr/>
        </p:nvSpPr>
        <p:spPr>
          <a:xfrm>
            <a:off x="566928" y="4846320"/>
            <a:ext cx="7132320" cy="640080"/>
          </a:xfrm>
          <a:prstGeom prst="rect">
            <a:avLst/>
          </a:prstGeom>
          <a:noFill/>
          <a:ln/>
        </p:spPr>
        <p:txBody>
          <a:bodyPr wrap="square" rtlCol="0" anchor="ctr"/>
          <a:lstStyle/>
          <a:p>
            <a:pPr marL="0" indent="0">
              <a:lnSpc>
                <a:spcPts val="1800"/>
              </a:lnSpc>
              <a:buNone/>
            </a:pPr>
            <a:r>
              <a:rPr lang="en-US" sz="1300" dirty="0">
                <a:solidFill>
                  <a:srgbClr val="78909C"/>
                </a:solidFill>
                <a:latin typeface="Calibri" pitchFamily="34" charset="0"/>
                <a:ea typeface="Calibri" pitchFamily="34" charset="-122"/>
                <a:cs typeface="Calibri" pitchFamily="34" charset="-120"/>
              </a:rPr>
              <a:t>Left: peak rises with clip length.   Right: same clips, all measured over an </a:t>
            </a:r>
            <a:r>
              <a:rPr lang="en-US" sz="1300">
                <a:solidFill>
                  <a:srgbClr val="78909C"/>
                </a:solidFill>
                <a:latin typeface="Calibri" pitchFamily="34" charset="0"/>
                <a:ea typeface="Calibri" pitchFamily="34" charset="-122"/>
                <a:cs typeface="Calibri" pitchFamily="34" charset="-120"/>
              </a:rPr>
              <a:t>equal window; </a:t>
            </a:r>
            <a:r>
              <a:rPr lang="en-US" sz="1300" dirty="0">
                <a:solidFill>
                  <a:srgbClr val="78909C"/>
                </a:solidFill>
                <a:latin typeface="Calibri" pitchFamily="34" charset="0"/>
                <a:ea typeface="Calibri" pitchFamily="34" charset="-122"/>
                <a:cs typeface="Calibri" pitchFamily="34" charset="-120"/>
              </a:rPr>
              <a:t>the effect vanishes.</a:t>
            </a:r>
            <a:endParaRPr lang="en-US" sz="1300" dirty="0"/>
          </a:p>
        </p:txBody>
      </p:sp>
      <p:sp>
        <p:nvSpPr>
          <p:cNvPr id="9" name="Shape 6"/>
          <p:cNvSpPr/>
          <p:nvPr/>
        </p:nvSpPr>
        <p:spPr>
          <a:xfrm>
            <a:off x="7863840" y="1952244"/>
            <a:ext cx="3794760" cy="2011680"/>
          </a:xfrm>
          <a:prstGeom prst="roundRect">
            <a:avLst>
              <a:gd name="adj" fmla="val 2727"/>
            </a:avLst>
          </a:prstGeom>
          <a:solidFill>
            <a:srgbClr val="ECEFF1"/>
          </a:solidFill>
          <a:ln w="12700">
            <a:solidFill>
              <a:srgbClr val="ECEFF1"/>
            </a:solidFill>
            <a:prstDash val="solid"/>
          </a:ln>
        </p:spPr>
        <p:txBody>
          <a:bodyPr/>
          <a:lstStyle/>
          <a:p>
            <a:endParaRPr lang="en-US"/>
          </a:p>
        </p:txBody>
      </p:sp>
      <p:sp>
        <p:nvSpPr>
          <p:cNvPr id="10" name="Text 7"/>
          <p:cNvSpPr/>
          <p:nvPr/>
        </p:nvSpPr>
        <p:spPr>
          <a:xfrm>
            <a:off x="8156448" y="2153412"/>
            <a:ext cx="322783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What we changed</a:t>
            </a:r>
            <a:endParaRPr lang="en-US" sz="1500" dirty="0"/>
          </a:p>
        </p:txBody>
      </p:sp>
      <p:sp>
        <p:nvSpPr>
          <p:cNvPr id="11" name="Text 8"/>
          <p:cNvSpPr/>
          <p:nvPr/>
        </p:nvSpPr>
        <p:spPr>
          <a:xfrm>
            <a:off x="8156448" y="2628900"/>
            <a:ext cx="3227832" cy="113385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Clip length is now accounted for in every peak measure. Otherwise, if performed smiles happen to be shorter, we would “find” a difference that is really just clip length.</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685800" cy="685800"/>
          </a:xfrm>
          <a:prstGeom prst="ellipse">
            <a:avLst/>
          </a:prstGeom>
          <a:solidFill>
            <a:srgbClr val="E64626"/>
          </a:solid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 name="Text 1"/>
          <p:cNvSpPr/>
          <p:nvPr/>
        </p:nvSpPr>
        <p:spPr>
          <a:xfrm>
            <a:off x="1417320"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Nine “genuine” clips contain no smile</a:t>
            </a:r>
            <a:endParaRPr lang="en-US" sz="2700" dirty="0"/>
          </a:p>
        </p:txBody>
      </p:sp>
      <p:sp>
        <p:nvSpPr>
          <p:cNvPr id="4" name="Text 2"/>
          <p:cNvSpPr/>
          <p:nvPr/>
        </p:nvSpPr>
        <p:spPr>
          <a:xfrm>
            <a:off x="566928" y="1325880"/>
            <a:ext cx="3200400" cy="868680"/>
          </a:xfrm>
          <a:prstGeom prst="rect">
            <a:avLst/>
          </a:prstGeom>
          <a:noFill/>
          <a:ln/>
        </p:spPr>
        <p:txBody>
          <a:bodyPr wrap="square" lIns="0" tIns="0" rIns="0" bIns="0" rtlCol="0" anchor="ctr"/>
          <a:lstStyle/>
          <a:p>
            <a:pPr marL="0" indent="0" algn="l">
              <a:buNone/>
            </a:pPr>
            <a:r>
              <a:rPr lang="en-US" sz="5000" b="1" dirty="0">
                <a:solidFill>
                  <a:srgbClr val="E64626"/>
                </a:solidFill>
                <a:latin typeface="Cambria" pitchFamily="34" charset="0"/>
                <a:ea typeface="Cambria" pitchFamily="34" charset="-122"/>
                <a:cs typeface="Cambria" pitchFamily="34" charset="-120"/>
              </a:rPr>
              <a:t>9</a:t>
            </a:r>
            <a:endParaRPr lang="en-US" sz="5000" dirty="0"/>
          </a:p>
        </p:txBody>
      </p:sp>
      <p:sp>
        <p:nvSpPr>
          <p:cNvPr id="5" name="Text 3"/>
          <p:cNvSpPr/>
          <p:nvPr/>
        </p:nvSpPr>
        <p:spPr>
          <a:xfrm>
            <a:off x="566928" y="2194560"/>
            <a:ext cx="320040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clips where the lip corner</a:t>
            </a:r>
            <a:endParaRPr lang="en-US" sz="1350" dirty="0"/>
          </a:p>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never moves at all</a:t>
            </a:r>
            <a:endParaRPr lang="en-US" sz="1350" dirty="0"/>
          </a:p>
        </p:txBody>
      </p:sp>
      <p:sp>
        <p:nvSpPr>
          <p:cNvPr id="6" name="Text 4"/>
          <p:cNvSpPr/>
          <p:nvPr/>
        </p:nvSpPr>
        <p:spPr>
          <a:xfrm>
            <a:off x="3931920" y="1325880"/>
            <a:ext cx="3291840" cy="868680"/>
          </a:xfrm>
          <a:prstGeom prst="rect">
            <a:avLst/>
          </a:prstGeom>
          <a:noFill/>
          <a:ln/>
        </p:spPr>
        <p:txBody>
          <a:bodyPr wrap="square" lIns="0" tIns="0" rIns="0" bIns="0" rtlCol="0" anchor="ctr"/>
          <a:lstStyle/>
          <a:p>
            <a:pPr marL="0" indent="0" algn="l">
              <a:buNone/>
            </a:pPr>
            <a:r>
              <a:rPr lang="en-US" sz="5000" b="1" dirty="0">
                <a:solidFill>
                  <a:srgbClr val="37474F"/>
                </a:solidFill>
                <a:latin typeface="Cambria" pitchFamily="34" charset="0"/>
                <a:ea typeface="Cambria" pitchFamily="34" charset="-122"/>
                <a:cs typeface="Cambria" pitchFamily="34" charset="-120"/>
              </a:rPr>
              <a:t>0.08</a:t>
            </a:r>
            <a:endParaRPr lang="en-US" sz="5000" dirty="0"/>
          </a:p>
        </p:txBody>
      </p:sp>
      <p:sp>
        <p:nvSpPr>
          <p:cNvPr id="7" name="Text 5"/>
          <p:cNvSpPr/>
          <p:nvPr/>
        </p:nvSpPr>
        <p:spPr>
          <a:xfrm>
            <a:off x="3931920" y="2194560"/>
            <a:ext cx="329184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average peak happiness</a:t>
            </a:r>
            <a:endParaRPr lang="en-US" sz="1350" dirty="0"/>
          </a:p>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(vs 0.75 in the rest)</a:t>
            </a:r>
            <a:endParaRPr lang="en-US" sz="1350" dirty="0"/>
          </a:p>
        </p:txBody>
      </p:sp>
      <p:sp>
        <p:nvSpPr>
          <p:cNvPr id="8" name="Text 6"/>
          <p:cNvSpPr/>
          <p:nvPr/>
        </p:nvSpPr>
        <p:spPr>
          <a:xfrm>
            <a:off x="7498080" y="1325880"/>
            <a:ext cx="3931920" cy="868680"/>
          </a:xfrm>
          <a:prstGeom prst="rect">
            <a:avLst/>
          </a:prstGeom>
          <a:noFill/>
          <a:ln/>
        </p:spPr>
        <p:txBody>
          <a:bodyPr wrap="square" lIns="0" tIns="0" rIns="0" bIns="0" rtlCol="0" anchor="ctr"/>
          <a:lstStyle/>
          <a:p>
            <a:pPr marL="0" indent="0" algn="l">
              <a:buNone/>
            </a:pPr>
            <a:r>
              <a:rPr lang="en-US" sz="5000" b="1" dirty="0">
                <a:solidFill>
                  <a:srgbClr val="37474F"/>
                </a:solidFill>
                <a:latin typeface="Cambria" pitchFamily="34" charset="0"/>
                <a:ea typeface="Cambria" pitchFamily="34" charset="-122"/>
                <a:cs typeface="Cambria" pitchFamily="34" charset="-120"/>
              </a:rPr>
              <a:t>0</a:t>
            </a:r>
            <a:endParaRPr lang="en-US" sz="5000" dirty="0"/>
          </a:p>
        </p:txBody>
      </p:sp>
      <p:sp>
        <p:nvSpPr>
          <p:cNvPr id="9" name="Text 7"/>
          <p:cNvSpPr/>
          <p:nvPr/>
        </p:nvSpPr>
        <p:spPr>
          <a:xfrm>
            <a:off x="7498080" y="2194560"/>
            <a:ext cx="3931920" cy="868680"/>
          </a:xfrm>
          <a:prstGeom prst="rect">
            <a:avLst/>
          </a:prstGeom>
          <a:noFill/>
          <a:ln/>
        </p:spPr>
        <p:txBody>
          <a:bodyPr wrap="square" lIns="0" tIns="0" rIns="0" bIns="0" rtlCol="0" anchor="t"/>
          <a:lstStyle/>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tracking failures — the face</a:t>
            </a:r>
            <a:endParaRPr lang="en-US" sz="1350" dirty="0"/>
          </a:p>
          <a:p>
            <a:pPr marL="0" indent="0" algn="l">
              <a:lnSpc>
                <a:spcPts val="1700"/>
              </a:lnSpc>
              <a:buNone/>
            </a:pPr>
            <a:r>
              <a:rPr lang="en-US" sz="1350" dirty="0">
                <a:solidFill>
                  <a:srgbClr val="37474F"/>
                </a:solidFill>
                <a:latin typeface="Calibri" pitchFamily="34" charset="0"/>
                <a:ea typeface="Calibri" pitchFamily="34" charset="-122"/>
                <a:cs typeface="Calibri" pitchFamily="34" charset="-120"/>
              </a:rPr>
              <a:t>was read perfectly well</a:t>
            </a:r>
            <a:endParaRPr lang="en-US" sz="1350" dirty="0"/>
          </a:p>
        </p:txBody>
      </p:sp>
      <p:sp>
        <p:nvSpPr>
          <p:cNvPr id="10" name="Shape 8"/>
          <p:cNvSpPr/>
          <p:nvPr/>
        </p:nvSpPr>
        <p:spPr>
          <a:xfrm>
            <a:off x="566928" y="3657600"/>
            <a:ext cx="5394960" cy="2286000"/>
          </a:xfrm>
          <a:prstGeom prst="roundRect">
            <a:avLst>
              <a:gd name="adj" fmla="val 2400"/>
            </a:avLst>
          </a:prstGeom>
          <a:solidFill>
            <a:srgbClr val="ECEFF1"/>
          </a:solidFill>
          <a:ln w="12700">
            <a:solidFill>
              <a:srgbClr val="ECEFF1"/>
            </a:solidFill>
            <a:prstDash val="solid"/>
          </a:ln>
        </p:spPr>
        <p:txBody>
          <a:bodyPr/>
          <a:lstStyle/>
          <a:p>
            <a:endParaRPr lang="en-US"/>
          </a:p>
        </p:txBody>
      </p:sp>
      <p:sp>
        <p:nvSpPr>
          <p:cNvPr id="11" name="Text 9"/>
          <p:cNvSpPr/>
          <p:nvPr/>
        </p:nvSpPr>
        <p:spPr>
          <a:xfrm>
            <a:off x="859536" y="3858768"/>
            <a:ext cx="482803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So what are they?</a:t>
            </a:r>
            <a:endParaRPr lang="en-US" sz="1500" dirty="0"/>
          </a:p>
        </p:txBody>
      </p:sp>
      <p:sp>
        <p:nvSpPr>
          <p:cNvPr id="12" name="Text 10"/>
          <p:cNvSpPr/>
          <p:nvPr/>
        </p:nvSpPr>
        <p:spPr>
          <a:xfrm>
            <a:off x="859536" y="4334256"/>
            <a:ext cx="4828032" cy="140817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Not a software problem. The face tracked fine and other muscles moved normally.</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Most likely the clip was cut in the wrong place, or the person did not actually smile at that video and a segment was taken anyway.</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They cluster in four people.</a:t>
            </a:r>
            <a:endParaRPr lang="en-US" sz="1250" dirty="0"/>
          </a:p>
        </p:txBody>
      </p:sp>
      <p:sp>
        <p:nvSpPr>
          <p:cNvPr id="13" name="Shape 11"/>
          <p:cNvSpPr/>
          <p:nvPr/>
        </p:nvSpPr>
        <p:spPr>
          <a:xfrm>
            <a:off x="6263640" y="3657600"/>
            <a:ext cx="5349240" cy="2286000"/>
          </a:xfrm>
          <a:prstGeom prst="roundRect">
            <a:avLst>
              <a:gd name="adj" fmla="val 2400"/>
            </a:avLst>
          </a:prstGeom>
          <a:solidFill>
            <a:srgbClr val="ECEFF1"/>
          </a:solidFill>
          <a:ln w="12700">
            <a:solidFill>
              <a:srgbClr val="ECEFF1"/>
            </a:solidFill>
            <a:prstDash val="solid"/>
          </a:ln>
        </p:spPr>
        <p:txBody>
          <a:bodyPr/>
          <a:lstStyle/>
          <a:p>
            <a:endParaRPr lang="en-US"/>
          </a:p>
        </p:txBody>
      </p:sp>
      <p:sp>
        <p:nvSpPr>
          <p:cNvPr id="14" name="Text 12"/>
          <p:cNvSpPr/>
          <p:nvPr/>
        </p:nvSpPr>
        <p:spPr>
          <a:xfrm>
            <a:off x="6556248" y="3858768"/>
            <a:ext cx="478231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Why it needs deciding NOW</a:t>
            </a:r>
            <a:endParaRPr lang="en-US" sz="1500" dirty="0"/>
          </a:p>
        </p:txBody>
      </p:sp>
      <p:sp>
        <p:nvSpPr>
          <p:cNvPr id="15" name="Text 13"/>
          <p:cNvSpPr/>
          <p:nvPr/>
        </p:nvSpPr>
        <p:spPr>
          <a:xfrm>
            <a:off x="6556248" y="4242816"/>
            <a:ext cx="4782312" cy="140817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Left in, they drag the genuine average down and make a real difference harder to see.</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Taken out after we have seen the results, the exclusion looks like cherry-picking.</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Proposed rule: drop any clip where the lip corner never moves at all. Applied blind to condition, reported both ways.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685800" cy="685800"/>
          </a:xfrm>
          <a:prstGeom prst="ellipse">
            <a:avLst/>
          </a:prstGeom>
          <a:solidFill>
            <a:srgbClr val="E64626"/>
          </a:solid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 name="Text 1"/>
          <p:cNvSpPr/>
          <p:nvPr/>
        </p:nvSpPr>
        <p:spPr>
          <a:xfrm>
            <a:off x="1417320"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Three smaller items</a:t>
            </a:r>
            <a:endParaRPr lang="en-US" sz="2700" dirty="0"/>
          </a:p>
        </p:txBody>
      </p:sp>
      <p:sp>
        <p:nvSpPr>
          <p:cNvPr id="4" name="Shape 2"/>
          <p:cNvSpPr/>
          <p:nvPr/>
        </p:nvSpPr>
        <p:spPr>
          <a:xfrm>
            <a:off x="566928" y="1371600"/>
            <a:ext cx="3566160" cy="4023360"/>
          </a:xfrm>
          <a:prstGeom prst="roundRect">
            <a:avLst>
              <a:gd name="adj" fmla="val 1538"/>
            </a:avLst>
          </a:prstGeom>
          <a:solidFill>
            <a:srgbClr val="ECEFF1"/>
          </a:solidFill>
          <a:ln w="12700">
            <a:solidFill>
              <a:srgbClr val="ECEFF1"/>
            </a:solidFill>
            <a:prstDash val="solid"/>
          </a:ln>
        </p:spPr>
        <p:txBody>
          <a:bodyPr/>
          <a:lstStyle/>
          <a:p>
            <a:endParaRPr lang="en-US"/>
          </a:p>
        </p:txBody>
      </p:sp>
      <p:sp>
        <p:nvSpPr>
          <p:cNvPr id="5" name="Text 3"/>
          <p:cNvSpPr/>
          <p:nvPr/>
        </p:nvSpPr>
        <p:spPr>
          <a:xfrm>
            <a:off x="859536" y="1572768"/>
            <a:ext cx="299923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13 files in the wrong format</a:t>
            </a:r>
            <a:endParaRPr lang="en-US" sz="1500" dirty="0"/>
          </a:p>
        </p:txBody>
      </p:sp>
      <p:sp>
        <p:nvSpPr>
          <p:cNvPr id="6" name="Text 4"/>
          <p:cNvSpPr/>
          <p:nvPr/>
        </p:nvSpPr>
        <p:spPr>
          <a:xfrm>
            <a:off x="859536" y="2048256"/>
            <a:ext cx="2999232" cy="31455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All of C15, all of C31, and one C24 clip were saved as “state </a:t>
            </a:r>
            <a:r>
              <a:rPr lang="en-US" sz="1250">
                <a:solidFill>
                  <a:srgbClr val="37474F"/>
                </a:solidFill>
                <a:latin typeface="Calibri" pitchFamily="34" charset="0"/>
                <a:ea typeface="Calibri" pitchFamily="34" charset="-122"/>
                <a:cs typeface="Calibri" pitchFamily="34" charset="-120"/>
              </a:rPr>
              <a:t>logs”; they </a:t>
            </a:r>
            <a:r>
              <a:rPr lang="en-US" sz="1250" dirty="0">
                <a:solidFill>
                  <a:srgbClr val="37474F"/>
                </a:solidFill>
                <a:latin typeface="Calibri" pitchFamily="34" charset="0"/>
                <a:ea typeface="Calibri" pitchFamily="34" charset="-122"/>
                <a:cs typeface="Calibri" pitchFamily="34" charset="-120"/>
              </a:rPr>
              <a:t>record only which expression was dominant, with no muscle data at all.</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Can they be re-exported as detailed logs?</a:t>
            </a:r>
            <a:endParaRPr lang="en-US" sz="1250" dirty="0"/>
          </a:p>
        </p:txBody>
      </p:sp>
      <p:sp>
        <p:nvSpPr>
          <p:cNvPr id="7" name="Shape 5"/>
          <p:cNvSpPr/>
          <p:nvPr/>
        </p:nvSpPr>
        <p:spPr>
          <a:xfrm>
            <a:off x="4315968" y="1371600"/>
            <a:ext cx="3566160" cy="4023360"/>
          </a:xfrm>
          <a:prstGeom prst="roundRect">
            <a:avLst>
              <a:gd name="adj" fmla="val 1538"/>
            </a:avLst>
          </a:prstGeom>
          <a:solidFill>
            <a:srgbClr val="ECEFF1"/>
          </a:solidFill>
          <a:ln w="12700">
            <a:solidFill>
              <a:srgbClr val="ECEFF1"/>
            </a:solidFill>
            <a:prstDash val="solid"/>
          </a:ln>
        </p:spPr>
        <p:txBody>
          <a:bodyPr/>
          <a:lstStyle/>
          <a:p>
            <a:endParaRPr lang="en-US"/>
          </a:p>
        </p:txBody>
      </p:sp>
      <p:sp>
        <p:nvSpPr>
          <p:cNvPr id="8" name="Text 6"/>
          <p:cNvSpPr/>
          <p:nvPr/>
        </p:nvSpPr>
        <p:spPr>
          <a:xfrm>
            <a:off x="4608576" y="1572768"/>
            <a:ext cx="299923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Video is 8 fps, not 30</a:t>
            </a:r>
            <a:endParaRPr lang="en-US" sz="1500" dirty="0"/>
          </a:p>
        </p:txBody>
      </p:sp>
      <p:sp>
        <p:nvSpPr>
          <p:cNvPr id="9" name="Text 7"/>
          <p:cNvSpPr/>
          <p:nvPr/>
        </p:nvSpPr>
        <p:spPr>
          <a:xfrm>
            <a:off x="4608576" y="2048256"/>
            <a:ext cx="2999232" cy="31455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Every file reports 8 frames per second, against the 30 you mentioned</a:t>
            </a:r>
            <a:r>
              <a:rPr lang="en-US" sz="1250">
                <a:solidFill>
                  <a:srgbClr val="37474F"/>
                </a:solidFill>
                <a:latin typeface="Calibri" pitchFamily="34" charset="0"/>
                <a:ea typeface="Calibri" pitchFamily="34" charset="-122"/>
                <a:cs typeface="Calibri" pitchFamily="34" charset="-120"/>
              </a:rPr>
              <a:t>. </a:t>
            </a:r>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This limits all timing to steps of 1/8 of a second.</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Was that deliberate? Are 30 fps sources available?</a:t>
            </a:r>
            <a:endParaRPr lang="en-US" sz="1250" dirty="0"/>
          </a:p>
        </p:txBody>
      </p:sp>
      <p:sp>
        <p:nvSpPr>
          <p:cNvPr id="10" name="Shape 8"/>
          <p:cNvSpPr/>
          <p:nvPr/>
        </p:nvSpPr>
        <p:spPr>
          <a:xfrm>
            <a:off x="8065008" y="1371600"/>
            <a:ext cx="3566160" cy="4023360"/>
          </a:xfrm>
          <a:prstGeom prst="roundRect">
            <a:avLst>
              <a:gd name="adj" fmla="val 1538"/>
            </a:avLst>
          </a:prstGeom>
          <a:solidFill>
            <a:srgbClr val="ECEFF1"/>
          </a:solidFill>
          <a:ln w="12700">
            <a:solidFill>
              <a:srgbClr val="ECEFF1"/>
            </a:solidFill>
            <a:prstDash val="solid"/>
          </a:ln>
        </p:spPr>
        <p:txBody>
          <a:bodyPr/>
          <a:lstStyle/>
          <a:p>
            <a:endParaRPr lang="en-US"/>
          </a:p>
        </p:txBody>
      </p:sp>
      <p:sp>
        <p:nvSpPr>
          <p:cNvPr id="11" name="Text 9"/>
          <p:cNvSpPr/>
          <p:nvPr/>
        </p:nvSpPr>
        <p:spPr>
          <a:xfrm>
            <a:off x="8357616" y="1572768"/>
            <a:ext cx="299923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One clip contradicts itself</a:t>
            </a:r>
            <a:endParaRPr lang="en-US" sz="1500" dirty="0"/>
          </a:p>
        </p:txBody>
      </p:sp>
      <p:sp>
        <p:nvSpPr>
          <p:cNvPr id="12" name="Text 10"/>
          <p:cNvSpPr/>
          <p:nvPr/>
        </p:nvSpPr>
        <p:spPr>
          <a:xfrm>
            <a:off x="8357616" y="2048256"/>
            <a:ext cx="2999232" cy="314553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Clip E25SA07-03 is coded as a sad-video smile, but its source file is named “Happy 7 CN”.</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One of the two labels is a typo</a:t>
            </a:r>
            <a:r>
              <a:rPr lang="en-US" sz="1250">
                <a:solidFill>
                  <a:srgbClr val="37474F"/>
                </a:solidFill>
                <a:latin typeface="Calibri" pitchFamily="34" charset="0"/>
                <a:ea typeface="Calibri" pitchFamily="34" charset="-122"/>
                <a:cs typeface="Calibri" pitchFamily="34" charset="-120"/>
              </a:rPr>
              <a:t>. </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Which is correct?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What this study can realistically detect</a:t>
            </a:r>
            <a:endParaRPr lang="en-US" sz="2700" dirty="0"/>
          </a:p>
        </p:txBody>
      </p:sp>
      <p:pic>
        <p:nvPicPr>
          <p:cNvPr id="3" name="Image 0" descr="preencoded.png"/>
          <p:cNvPicPr>
            <a:picLocks noChangeAspect="1"/>
          </p:cNvPicPr>
          <p:nvPr/>
        </p:nvPicPr>
        <p:blipFill>
          <a:blip r:embed="rId3"/>
          <a:stretch>
            <a:fillRect/>
          </a:stretch>
        </p:blipFill>
        <p:spPr>
          <a:xfrm>
            <a:off x="566928" y="1234440"/>
            <a:ext cx="6766560" cy="3611880"/>
          </a:xfrm>
          <a:prstGeom prst="rect">
            <a:avLst/>
          </a:prstGeom>
        </p:spPr>
      </p:pic>
      <p:sp>
        <p:nvSpPr>
          <p:cNvPr id="4" name="Text 1"/>
          <p:cNvSpPr/>
          <p:nvPr/>
        </p:nvSpPr>
        <p:spPr>
          <a:xfrm>
            <a:off x="566928" y="4983480"/>
            <a:ext cx="6949440" cy="457200"/>
          </a:xfrm>
          <a:prstGeom prst="rect">
            <a:avLst/>
          </a:prstGeom>
          <a:noFill/>
          <a:ln/>
        </p:spPr>
        <p:txBody>
          <a:bodyPr wrap="square" rtlCol="0" anchor="ctr"/>
          <a:lstStyle/>
          <a:p>
            <a:pPr marL="0" indent="0">
              <a:buNone/>
            </a:pPr>
            <a:r>
              <a:rPr lang="en-US" sz="1300" dirty="0">
                <a:solidFill>
                  <a:srgbClr val="78909C"/>
                </a:solidFill>
                <a:latin typeface="Calibri" pitchFamily="34" charset="0"/>
                <a:ea typeface="Calibri" pitchFamily="34" charset="-122"/>
                <a:cs typeface="Calibri" pitchFamily="34" charset="-120"/>
              </a:rPr>
              <a:t>Simulated using the variation measured in your own pilot data, at 30 smilers per culture.</a:t>
            </a:r>
            <a:endParaRPr lang="en-US" sz="1300" dirty="0"/>
          </a:p>
        </p:txBody>
      </p:sp>
      <p:sp>
        <p:nvSpPr>
          <p:cNvPr id="5" name="Shape 2"/>
          <p:cNvSpPr/>
          <p:nvPr/>
        </p:nvSpPr>
        <p:spPr>
          <a:xfrm>
            <a:off x="7680960" y="1234440"/>
            <a:ext cx="3931920" cy="2148840"/>
          </a:xfrm>
          <a:prstGeom prst="roundRect">
            <a:avLst>
              <a:gd name="adj" fmla="val 2553"/>
            </a:avLst>
          </a:prstGeom>
          <a:solidFill>
            <a:srgbClr val="ECEFF1"/>
          </a:solidFill>
          <a:ln w="12700">
            <a:solidFill>
              <a:srgbClr val="ECEFF1"/>
            </a:solidFill>
            <a:prstDash val="solid"/>
          </a:ln>
        </p:spPr>
        <p:txBody>
          <a:bodyPr/>
          <a:lstStyle/>
          <a:p>
            <a:endParaRPr lang="en-US"/>
          </a:p>
        </p:txBody>
      </p:sp>
      <p:sp>
        <p:nvSpPr>
          <p:cNvPr id="6" name="Text 3"/>
          <p:cNvSpPr/>
          <p:nvPr/>
        </p:nvSpPr>
        <p:spPr>
          <a:xfrm>
            <a:off x="7973568" y="1435608"/>
            <a:ext cx="3364992" cy="384048"/>
          </a:xfrm>
          <a:prstGeom prst="rect">
            <a:avLst/>
          </a:prstGeom>
          <a:noFill/>
          <a:ln/>
        </p:spPr>
        <p:txBody>
          <a:bodyPr wrap="square" lIns="0" tIns="0" rIns="0" bIns="0" rtlCol="0" anchor="ctr"/>
          <a:lstStyle/>
          <a:p>
            <a:pPr marL="0" indent="0">
              <a:buNone/>
            </a:pPr>
            <a:r>
              <a:rPr lang="en-US" sz="1500" b="1" dirty="0">
                <a:solidFill>
                  <a:srgbClr val="263238"/>
                </a:solidFill>
                <a:latin typeface="Calibri" pitchFamily="34" charset="0"/>
                <a:ea typeface="Calibri" pitchFamily="34" charset="-122"/>
                <a:cs typeface="Calibri" pitchFamily="34" charset="-120"/>
              </a:rPr>
              <a:t>Why the gap is so large</a:t>
            </a:r>
            <a:endParaRPr lang="en-US" sz="1500" dirty="0"/>
          </a:p>
        </p:txBody>
      </p:sp>
      <p:sp>
        <p:nvSpPr>
          <p:cNvPr id="7" name="Text 4"/>
          <p:cNvSpPr/>
          <p:nvPr/>
        </p:nvSpPr>
        <p:spPr>
          <a:xfrm>
            <a:off x="7973568" y="1911096"/>
            <a:ext cx="3364992" cy="127101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The first question compares each person against themselves, so individual differences cancel out.</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The second asks whether that difference differs between two groups of people — which puts all of that variation back in.</a:t>
            </a:r>
            <a:endParaRPr lang="en-US" sz="1250" dirty="0"/>
          </a:p>
        </p:txBody>
      </p:sp>
      <p:sp>
        <p:nvSpPr>
          <p:cNvPr id="8" name="Shape 5"/>
          <p:cNvSpPr/>
          <p:nvPr/>
        </p:nvSpPr>
        <p:spPr>
          <a:xfrm>
            <a:off x="7680960" y="3611880"/>
            <a:ext cx="3931920" cy="2148840"/>
          </a:xfrm>
          <a:prstGeom prst="roundRect">
            <a:avLst>
              <a:gd name="adj" fmla="val 2553"/>
            </a:avLst>
          </a:prstGeom>
          <a:solidFill>
            <a:srgbClr val="ECEFF1"/>
          </a:solidFill>
          <a:ln w="12700">
            <a:solidFill>
              <a:srgbClr val="ECEFF1"/>
            </a:solidFill>
            <a:prstDash val="solid"/>
          </a:ln>
        </p:spPr>
        <p:txBody>
          <a:bodyPr/>
          <a:lstStyle/>
          <a:p>
            <a:endParaRPr lang="en-US"/>
          </a:p>
        </p:txBody>
      </p:sp>
      <p:sp>
        <p:nvSpPr>
          <p:cNvPr id="9" name="Text 6"/>
          <p:cNvSpPr/>
          <p:nvPr/>
        </p:nvSpPr>
        <p:spPr>
          <a:xfrm>
            <a:off x="7973568" y="3813048"/>
            <a:ext cx="3364992" cy="384048"/>
          </a:xfrm>
          <a:prstGeom prst="rect">
            <a:avLst/>
          </a:prstGeom>
          <a:noFill/>
          <a:ln/>
        </p:spPr>
        <p:txBody>
          <a:bodyPr wrap="square" lIns="0" tIns="0" rIns="0" bIns="0" rtlCol="0" anchor="ctr"/>
          <a:lstStyle/>
          <a:p>
            <a:pPr marL="0" indent="0">
              <a:buNone/>
            </a:pPr>
            <a:r>
              <a:rPr lang="en-US" sz="1500" b="1" dirty="0">
                <a:solidFill>
                  <a:srgbClr val="E64626"/>
                </a:solidFill>
                <a:latin typeface="Calibri" pitchFamily="34" charset="0"/>
                <a:ea typeface="Calibri" pitchFamily="34" charset="-122"/>
                <a:cs typeface="Calibri" pitchFamily="34" charset="-120"/>
              </a:rPr>
              <a:t>Suggestion, not a decision</a:t>
            </a:r>
            <a:endParaRPr lang="en-US" sz="1500" dirty="0"/>
          </a:p>
        </p:txBody>
      </p:sp>
      <p:sp>
        <p:nvSpPr>
          <p:cNvPr id="10" name="Text 7"/>
          <p:cNvSpPr/>
          <p:nvPr/>
        </p:nvSpPr>
        <p:spPr>
          <a:xfrm>
            <a:off x="7973568" y="4288536"/>
            <a:ext cx="3364992" cy="1271016"/>
          </a:xfrm>
          <a:prstGeom prst="rect">
            <a:avLst/>
          </a:prstGeom>
          <a:noFill/>
          <a:ln/>
        </p:spPr>
        <p:txBody>
          <a:bodyPr wrap="square" lIns="0" tIns="0" rIns="0" bIns="0" rtlCol="0" anchor="t"/>
          <a:lstStyle/>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Treat the cultural question as exploratory: report the size of the effect and its uncertainty rather than leaning on significance.</a:t>
            </a:r>
            <a:endParaRPr lang="en-US" sz="1250" dirty="0"/>
          </a:p>
          <a:p>
            <a:pPr marL="0" indent="0">
              <a:lnSpc>
                <a:spcPts val="1700"/>
              </a:lnSpc>
              <a:buNone/>
            </a:pPr>
            <a:endParaRPr lang="en-US" sz="1250" dirty="0"/>
          </a:p>
          <a:p>
            <a:pPr marL="0" indent="0">
              <a:lnSpc>
                <a:spcPts val="1700"/>
              </a:lnSpc>
              <a:buNone/>
            </a:pPr>
            <a:r>
              <a:rPr lang="en-US" sz="1250" dirty="0">
                <a:solidFill>
                  <a:srgbClr val="37474F"/>
                </a:solidFill>
                <a:latin typeface="Calibri" pitchFamily="34" charset="0"/>
                <a:ea typeface="Calibri" pitchFamily="34" charset="-122"/>
                <a:cs typeface="Calibri" pitchFamily="34" charset="-120"/>
              </a:rPr>
              <a:t>Otherwise a null result is ambiguous — absent, or just undetectable?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What I most need from you</a:t>
            </a:r>
            <a:endParaRPr lang="en-US" sz="2700" dirty="0"/>
          </a:p>
        </p:txBody>
      </p:sp>
      <p:sp>
        <p:nvSpPr>
          <p:cNvPr id="3" name="Text 1"/>
          <p:cNvSpPr/>
          <p:nvPr/>
        </p:nvSpPr>
        <p:spPr>
          <a:xfrm>
            <a:off x="566928" y="1143000"/>
            <a:ext cx="10515600" cy="365760"/>
          </a:xfrm>
          <a:prstGeom prst="rect">
            <a:avLst/>
          </a:prstGeom>
          <a:noFill/>
          <a:ln/>
        </p:spPr>
        <p:txBody>
          <a:bodyPr wrap="square" rtlCol="0" anchor="ctr"/>
          <a:lstStyle/>
          <a:p>
            <a:pPr marL="0" indent="0">
              <a:buNone/>
            </a:pPr>
            <a:r>
              <a:rPr lang="en-US" sz="1500" dirty="0">
                <a:solidFill>
                  <a:srgbClr val="37474F"/>
                </a:solidFill>
                <a:latin typeface="Calibri" pitchFamily="34" charset="0"/>
                <a:ea typeface="Calibri" pitchFamily="34" charset="-122"/>
                <a:cs typeface="Calibri" pitchFamily="34" charset="-120"/>
              </a:rPr>
              <a:t>If we only get to three things today, these are them.</a:t>
            </a:r>
            <a:endParaRPr lang="en-US" sz="1500" dirty="0"/>
          </a:p>
        </p:txBody>
      </p:sp>
      <p:sp>
        <p:nvSpPr>
          <p:cNvPr id="4" name="Text 2"/>
          <p:cNvSpPr/>
          <p:nvPr/>
        </p:nvSpPr>
        <p:spPr>
          <a:xfrm>
            <a:off x="566928" y="1783080"/>
            <a:ext cx="658368" cy="658368"/>
          </a:xfrm>
          <a:prstGeom prst="ellipse">
            <a:avLst/>
          </a:prstGeom>
          <a:solidFill>
            <a:srgbClr val="E64626"/>
          </a:solid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5" name="Text 3"/>
          <p:cNvSpPr/>
          <p:nvPr/>
        </p:nvSpPr>
        <p:spPr>
          <a:xfrm>
            <a:off x="1463040" y="1801368"/>
            <a:ext cx="10058400" cy="384048"/>
          </a:xfrm>
          <a:prstGeom prst="rect">
            <a:avLst/>
          </a:prstGeom>
          <a:noFill/>
          <a:ln/>
        </p:spPr>
        <p:txBody>
          <a:bodyPr wrap="square" lIns="0" tIns="0" rIns="0" bIns="0" rtlCol="0" anchor="ctr"/>
          <a:lstStyle/>
          <a:p>
            <a:pPr marL="0" indent="0">
              <a:buNone/>
            </a:pPr>
            <a:r>
              <a:rPr lang="en-US" sz="1900" b="1" dirty="0">
                <a:solidFill>
                  <a:srgbClr val="263238"/>
                </a:solidFill>
                <a:latin typeface="Cambria" pitchFamily="34" charset="0"/>
                <a:ea typeface="Cambria" pitchFamily="34" charset="-122"/>
                <a:cs typeface="Cambria" pitchFamily="34" charset="-120"/>
              </a:rPr>
              <a:t>Do the original full-length recordings still exist?</a:t>
            </a:r>
            <a:endParaRPr lang="en-US" sz="1900" dirty="0"/>
          </a:p>
        </p:txBody>
      </p:sp>
      <p:sp>
        <p:nvSpPr>
          <p:cNvPr id="6" name="Text 4"/>
          <p:cNvSpPr/>
          <p:nvPr/>
        </p:nvSpPr>
        <p:spPr>
          <a:xfrm>
            <a:off x="1463040" y="2258568"/>
            <a:ext cx="9966960" cy="566928"/>
          </a:xfrm>
          <a:prstGeom prst="rect">
            <a:avLst/>
          </a:prstGeom>
          <a:noFill/>
          <a:ln/>
        </p:spPr>
        <p:txBody>
          <a:bodyPr wrap="square" lIns="0" tIns="0" rIns="0" bIns="0" rtlCol="0" anchor="ctr"/>
          <a:lstStyle/>
          <a:p>
            <a:pPr marL="0" indent="0">
              <a:lnSpc>
                <a:spcPts val="1800"/>
              </a:lnSpc>
              <a:buNone/>
            </a:pPr>
            <a:r>
              <a:rPr lang="en-US" sz="1350" dirty="0">
                <a:solidFill>
                  <a:srgbClr val="37474F"/>
                </a:solidFill>
                <a:latin typeface="Calibri" pitchFamily="34" charset="0"/>
                <a:ea typeface="Calibri" pitchFamily="34" charset="-122"/>
                <a:cs typeface="Calibri" pitchFamily="34" charset="-120"/>
              </a:rPr>
              <a:t>Re-cutting with ~2 s either side recovers onset, offset and duration. Highest value action available.</a:t>
            </a:r>
            <a:endParaRPr lang="en-US" sz="1350" dirty="0"/>
          </a:p>
        </p:txBody>
      </p:sp>
      <p:sp>
        <p:nvSpPr>
          <p:cNvPr id="7" name="Text 5"/>
          <p:cNvSpPr/>
          <p:nvPr/>
        </p:nvSpPr>
        <p:spPr>
          <a:xfrm>
            <a:off x="566928" y="3291840"/>
            <a:ext cx="658368" cy="658368"/>
          </a:xfrm>
          <a:prstGeom prst="ellipse">
            <a:avLst/>
          </a:prstGeom>
          <a:solidFill>
            <a:srgbClr val="E64626"/>
          </a:solid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8" name="Text 6"/>
          <p:cNvSpPr/>
          <p:nvPr/>
        </p:nvSpPr>
        <p:spPr>
          <a:xfrm>
            <a:off x="1463040" y="3310128"/>
            <a:ext cx="10058400" cy="384048"/>
          </a:xfrm>
          <a:prstGeom prst="rect">
            <a:avLst/>
          </a:prstGeom>
          <a:noFill/>
          <a:ln/>
        </p:spPr>
        <p:txBody>
          <a:bodyPr wrap="square" lIns="0" tIns="0" rIns="0" bIns="0" rtlCol="0" anchor="ctr"/>
          <a:lstStyle/>
          <a:p>
            <a:pPr marL="0" indent="0">
              <a:buNone/>
            </a:pPr>
            <a:r>
              <a:rPr lang="en-US" sz="1900" b="1" dirty="0">
                <a:solidFill>
                  <a:srgbClr val="263238"/>
                </a:solidFill>
                <a:latin typeface="Cambria" pitchFamily="34" charset="0"/>
                <a:ea typeface="Cambria" pitchFamily="34" charset="-122"/>
                <a:cs typeface="Cambria" pitchFamily="34" charset="-120"/>
              </a:rPr>
              <a:t>How many smilers in total, per culture?</a:t>
            </a:r>
            <a:endParaRPr lang="en-US" sz="1900" dirty="0"/>
          </a:p>
        </p:txBody>
      </p:sp>
      <p:sp>
        <p:nvSpPr>
          <p:cNvPr id="9" name="Text 7"/>
          <p:cNvSpPr/>
          <p:nvPr/>
        </p:nvSpPr>
        <p:spPr>
          <a:xfrm>
            <a:off x="1463040" y="3767328"/>
            <a:ext cx="9966960" cy="566928"/>
          </a:xfrm>
          <a:prstGeom prst="rect">
            <a:avLst/>
          </a:prstGeom>
          <a:noFill/>
          <a:ln/>
        </p:spPr>
        <p:txBody>
          <a:bodyPr wrap="square" lIns="0" tIns="0" rIns="0" bIns="0" rtlCol="0" anchor="ctr"/>
          <a:lstStyle/>
          <a:p>
            <a:pPr marL="0" indent="0">
              <a:lnSpc>
                <a:spcPts val="1800"/>
              </a:lnSpc>
              <a:buNone/>
            </a:pPr>
            <a:r>
              <a:rPr lang="en-US" sz="1350" dirty="0">
                <a:solidFill>
                  <a:srgbClr val="37474F"/>
                </a:solidFill>
                <a:latin typeface="Calibri" pitchFamily="34" charset="0"/>
                <a:ea typeface="Calibri" pitchFamily="34" charset="-122"/>
                <a:cs typeface="Calibri" pitchFamily="34" charset="-120"/>
              </a:rPr>
              <a:t>Determines whether the cultural question is framed as a real test or as exploratory.</a:t>
            </a:r>
            <a:endParaRPr lang="en-US" sz="1350" dirty="0"/>
          </a:p>
        </p:txBody>
      </p:sp>
      <p:sp>
        <p:nvSpPr>
          <p:cNvPr id="10" name="Text 8"/>
          <p:cNvSpPr/>
          <p:nvPr/>
        </p:nvSpPr>
        <p:spPr>
          <a:xfrm>
            <a:off x="566928" y="4800600"/>
            <a:ext cx="658368" cy="658368"/>
          </a:xfrm>
          <a:prstGeom prst="ellipse">
            <a:avLst/>
          </a:prstGeom>
          <a:solidFill>
            <a:srgbClr val="E64626"/>
          </a:solidFill>
          <a:ln/>
        </p:spPr>
        <p:txBody>
          <a:bodyPr wrap="square" rtlCol="0" anchor="ctr"/>
          <a:lstStyle/>
          <a:p>
            <a:pPr marL="0" indent="0" algn="ctr">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11" name="Text 9"/>
          <p:cNvSpPr/>
          <p:nvPr/>
        </p:nvSpPr>
        <p:spPr>
          <a:xfrm>
            <a:off x="1463040" y="4818888"/>
            <a:ext cx="10058400" cy="384048"/>
          </a:xfrm>
          <a:prstGeom prst="rect">
            <a:avLst/>
          </a:prstGeom>
          <a:noFill/>
          <a:ln/>
        </p:spPr>
        <p:txBody>
          <a:bodyPr wrap="square" lIns="0" tIns="0" rIns="0" bIns="0" rtlCol="0" anchor="ctr"/>
          <a:lstStyle/>
          <a:p>
            <a:pPr marL="0" indent="0">
              <a:buNone/>
            </a:pPr>
            <a:r>
              <a:rPr lang="en-US" sz="1900" b="1" dirty="0">
                <a:solidFill>
                  <a:srgbClr val="263238"/>
                </a:solidFill>
                <a:latin typeface="Cambria" pitchFamily="34" charset="0"/>
                <a:ea typeface="Cambria" pitchFamily="34" charset="-122"/>
                <a:cs typeface="Cambria" pitchFamily="34" charset="-120"/>
              </a:rPr>
              <a:t>Do you agree the four measures and the exclusion rule?</a:t>
            </a:r>
            <a:endParaRPr lang="en-US" sz="1900" dirty="0"/>
          </a:p>
        </p:txBody>
      </p:sp>
      <p:sp>
        <p:nvSpPr>
          <p:cNvPr id="12" name="Text 10"/>
          <p:cNvSpPr/>
          <p:nvPr/>
        </p:nvSpPr>
        <p:spPr>
          <a:xfrm>
            <a:off x="1463040" y="5276088"/>
            <a:ext cx="9966960" cy="566928"/>
          </a:xfrm>
          <a:prstGeom prst="rect">
            <a:avLst/>
          </a:prstGeom>
          <a:noFill/>
          <a:ln/>
        </p:spPr>
        <p:txBody>
          <a:bodyPr wrap="square" lIns="0" tIns="0" rIns="0" bIns="0" rtlCol="0" anchor="ctr"/>
          <a:lstStyle/>
          <a:p>
            <a:pPr marL="0" indent="0">
              <a:lnSpc>
                <a:spcPts val="1800"/>
              </a:lnSpc>
              <a:buNone/>
            </a:pPr>
            <a:r>
              <a:rPr lang="en-US" sz="1350" dirty="0">
                <a:solidFill>
                  <a:srgbClr val="37474F"/>
                </a:solidFill>
                <a:latin typeface="Calibri" pitchFamily="34" charset="0"/>
                <a:ea typeface="Calibri" pitchFamily="34" charset="-122"/>
                <a:cs typeface="Calibri" pitchFamily="34" charset="-120"/>
              </a:rPr>
              <a:t>Both must be settled before we see any results, or the analysis is not defensible at review.</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0241280" cy="685800"/>
          </a:xfrm>
          <a:prstGeom prst="rect">
            <a:avLst/>
          </a:prstGeom>
          <a:noFill/>
          <a:ln/>
        </p:spPr>
        <p:txBody>
          <a:bodyPr wrap="square" rtlCol="0" anchor="ctr"/>
          <a:lstStyle/>
          <a:p>
            <a:pPr marL="0" indent="0">
              <a:buNone/>
            </a:pPr>
            <a:r>
              <a:rPr lang="en-US" sz="2700" b="1" dirty="0">
                <a:solidFill>
                  <a:srgbClr val="263238"/>
                </a:solidFill>
                <a:latin typeface="Cambria" pitchFamily="34" charset="0"/>
                <a:ea typeface="Cambria" pitchFamily="34" charset="-122"/>
                <a:cs typeface="Cambria" pitchFamily="34" charset="-120"/>
              </a:rPr>
              <a:t>The other five, when convenient</a:t>
            </a:r>
            <a:endParaRPr lang="en-US" sz="2700" dirty="0"/>
          </a:p>
        </p:txBody>
      </p:sp>
      <p:sp>
        <p:nvSpPr>
          <p:cNvPr id="3" name="Shape 1"/>
          <p:cNvSpPr/>
          <p:nvPr/>
        </p:nvSpPr>
        <p:spPr>
          <a:xfrm>
            <a:off x="566928" y="1280160"/>
            <a:ext cx="11064240" cy="786384"/>
          </a:xfrm>
          <a:prstGeom prst="roundRect">
            <a:avLst>
              <a:gd name="adj" fmla="val 5814"/>
            </a:avLst>
          </a:prstGeom>
          <a:solidFill>
            <a:srgbClr val="ECEFF1"/>
          </a:solidFill>
          <a:ln w="12700">
            <a:solidFill>
              <a:srgbClr val="ECEFF1"/>
            </a:solidFill>
            <a:prstDash val="solid"/>
          </a:ln>
        </p:spPr>
        <p:txBody>
          <a:bodyPr/>
          <a:lstStyle/>
          <a:p>
            <a:endParaRPr lang="en-US"/>
          </a:p>
        </p:txBody>
      </p:sp>
      <p:sp>
        <p:nvSpPr>
          <p:cNvPr id="4" name="Text 2"/>
          <p:cNvSpPr/>
          <p:nvPr/>
        </p:nvSpPr>
        <p:spPr>
          <a:xfrm>
            <a:off x="868680" y="1353312"/>
            <a:ext cx="5669280" cy="640080"/>
          </a:xfrm>
          <a:prstGeom prst="rect">
            <a:avLst/>
          </a:prstGeom>
          <a:noFill/>
          <a:ln/>
        </p:spPr>
        <p:txBody>
          <a:bodyPr wrap="square" lIns="0" tIns="0" rIns="0" bIns="0" rtlCol="0" anchor="ctr"/>
          <a:lstStyle/>
          <a:p>
            <a:pPr marL="0" indent="0">
              <a:buNone/>
            </a:pPr>
            <a:r>
              <a:rPr lang="en-US" sz="1450" b="1" dirty="0">
                <a:solidFill>
                  <a:srgbClr val="263238"/>
                </a:solidFill>
                <a:latin typeface="Calibri" pitchFamily="34" charset="0"/>
                <a:ea typeface="Calibri" pitchFamily="34" charset="-122"/>
                <a:cs typeface="Calibri" pitchFamily="34" charset="-120"/>
              </a:rPr>
              <a:t>Was the 8 fps downsampling deliberate?</a:t>
            </a:r>
            <a:endParaRPr lang="en-US" sz="1450" dirty="0"/>
          </a:p>
        </p:txBody>
      </p:sp>
      <p:sp>
        <p:nvSpPr>
          <p:cNvPr id="5" name="Text 3"/>
          <p:cNvSpPr/>
          <p:nvPr/>
        </p:nvSpPr>
        <p:spPr>
          <a:xfrm>
            <a:off x="6583680" y="1353312"/>
            <a:ext cx="4754880" cy="640080"/>
          </a:xfrm>
          <a:prstGeom prst="rect">
            <a:avLst/>
          </a:prstGeom>
          <a:noFill/>
          <a:ln/>
        </p:spPr>
        <p:txBody>
          <a:bodyPr wrap="square" lIns="0" tIns="0" rIns="0" bIns="0" rtlCol="0" anchor="ctr"/>
          <a:lstStyle/>
          <a:p>
            <a:pPr marL="0" indent="0">
              <a:buNone/>
            </a:pPr>
            <a:r>
              <a:rPr lang="en-US" sz="1250" dirty="0">
                <a:solidFill>
                  <a:srgbClr val="78909C"/>
                </a:solidFill>
                <a:latin typeface="Calibri" pitchFamily="34" charset="0"/>
                <a:ea typeface="Calibri" pitchFamily="34" charset="-122"/>
                <a:cs typeface="Calibri" pitchFamily="34" charset="-120"/>
              </a:rPr>
              <a:t>Are 30 fps sources available?</a:t>
            </a:r>
            <a:endParaRPr lang="en-US" sz="1250" dirty="0"/>
          </a:p>
        </p:txBody>
      </p:sp>
      <p:sp>
        <p:nvSpPr>
          <p:cNvPr id="6" name="Shape 4"/>
          <p:cNvSpPr/>
          <p:nvPr/>
        </p:nvSpPr>
        <p:spPr>
          <a:xfrm>
            <a:off x="566928" y="2221992"/>
            <a:ext cx="11064240" cy="786384"/>
          </a:xfrm>
          <a:prstGeom prst="roundRect">
            <a:avLst>
              <a:gd name="adj" fmla="val 5814"/>
            </a:avLst>
          </a:prstGeom>
          <a:solidFill>
            <a:srgbClr val="FFFFFF"/>
          </a:solidFill>
          <a:ln w="12700">
            <a:solidFill>
              <a:srgbClr val="ECEFF1"/>
            </a:solidFill>
            <a:prstDash val="solid"/>
          </a:ln>
        </p:spPr>
        <p:txBody>
          <a:bodyPr/>
          <a:lstStyle/>
          <a:p>
            <a:endParaRPr lang="en-US"/>
          </a:p>
        </p:txBody>
      </p:sp>
      <p:sp>
        <p:nvSpPr>
          <p:cNvPr id="7" name="Text 5"/>
          <p:cNvSpPr/>
          <p:nvPr/>
        </p:nvSpPr>
        <p:spPr>
          <a:xfrm>
            <a:off x="868680" y="2295144"/>
            <a:ext cx="5669280" cy="640080"/>
          </a:xfrm>
          <a:prstGeom prst="rect">
            <a:avLst/>
          </a:prstGeom>
          <a:noFill/>
          <a:ln/>
        </p:spPr>
        <p:txBody>
          <a:bodyPr wrap="square" lIns="0" tIns="0" rIns="0" bIns="0" rtlCol="0" anchor="ctr"/>
          <a:lstStyle/>
          <a:p>
            <a:pPr marL="0" indent="0">
              <a:buNone/>
            </a:pPr>
            <a:r>
              <a:rPr lang="en-US" sz="1450" b="1" dirty="0">
                <a:solidFill>
                  <a:srgbClr val="263238"/>
                </a:solidFill>
                <a:latin typeface="Calibri" pitchFamily="34" charset="0"/>
                <a:ea typeface="Calibri" pitchFamily="34" charset="-122"/>
                <a:cs typeface="Calibri" pitchFamily="34" charset="-120"/>
              </a:rPr>
              <a:t>Can the 13 state-log files be re-exported?</a:t>
            </a:r>
            <a:endParaRPr lang="en-US" sz="1450" dirty="0"/>
          </a:p>
        </p:txBody>
      </p:sp>
      <p:sp>
        <p:nvSpPr>
          <p:cNvPr id="8" name="Text 6"/>
          <p:cNvSpPr/>
          <p:nvPr/>
        </p:nvSpPr>
        <p:spPr>
          <a:xfrm>
            <a:off x="6583680" y="2295144"/>
            <a:ext cx="4754880" cy="640080"/>
          </a:xfrm>
          <a:prstGeom prst="rect">
            <a:avLst/>
          </a:prstGeom>
          <a:noFill/>
          <a:ln/>
        </p:spPr>
        <p:txBody>
          <a:bodyPr wrap="square" lIns="0" tIns="0" rIns="0" bIns="0" rtlCol="0" anchor="ctr"/>
          <a:lstStyle/>
          <a:p>
            <a:pPr marL="0" indent="0">
              <a:buNone/>
            </a:pPr>
            <a:r>
              <a:rPr lang="en-US" sz="1250" dirty="0">
                <a:solidFill>
                  <a:srgbClr val="78909C"/>
                </a:solidFill>
                <a:latin typeface="Calibri" pitchFamily="34" charset="0"/>
                <a:ea typeface="Calibri" pitchFamily="34" charset="-122"/>
                <a:cs typeface="Calibri" pitchFamily="34" charset="-120"/>
              </a:rPr>
              <a:t>C15, C31, and one C24 clip — two people at stake.</a:t>
            </a:r>
            <a:endParaRPr lang="en-US" sz="1250" dirty="0"/>
          </a:p>
        </p:txBody>
      </p:sp>
      <p:sp>
        <p:nvSpPr>
          <p:cNvPr id="9" name="Shape 7"/>
          <p:cNvSpPr/>
          <p:nvPr/>
        </p:nvSpPr>
        <p:spPr>
          <a:xfrm>
            <a:off x="566928" y="3163824"/>
            <a:ext cx="11064240" cy="786384"/>
          </a:xfrm>
          <a:prstGeom prst="roundRect">
            <a:avLst>
              <a:gd name="adj" fmla="val 5814"/>
            </a:avLst>
          </a:prstGeom>
          <a:solidFill>
            <a:srgbClr val="ECEFF1"/>
          </a:solidFill>
          <a:ln w="12700">
            <a:solidFill>
              <a:srgbClr val="ECEFF1"/>
            </a:solidFill>
            <a:prstDash val="solid"/>
          </a:ln>
        </p:spPr>
        <p:txBody>
          <a:bodyPr/>
          <a:lstStyle/>
          <a:p>
            <a:endParaRPr lang="en-US"/>
          </a:p>
        </p:txBody>
      </p:sp>
      <p:sp>
        <p:nvSpPr>
          <p:cNvPr id="10" name="Text 8"/>
          <p:cNvSpPr/>
          <p:nvPr/>
        </p:nvSpPr>
        <p:spPr>
          <a:xfrm>
            <a:off x="868680" y="3236976"/>
            <a:ext cx="5669280" cy="640080"/>
          </a:xfrm>
          <a:prstGeom prst="rect">
            <a:avLst/>
          </a:prstGeom>
          <a:noFill/>
          <a:ln/>
        </p:spPr>
        <p:txBody>
          <a:bodyPr wrap="square" lIns="0" tIns="0" rIns="0" bIns="0" rtlCol="0" anchor="ctr"/>
          <a:lstStyle/>
          <a:p>
            <a:pPr marL="0" indent="0">
              <a:buNone/>
            </a:pPr>
            <a:r>
              <a:rPr lang="en-US" sz="1450" b="1" dirty="0">
                <a:solidFill>
                  <a:srgbClr val="263238"/>
                </a:solidFill>
                <a:latin typeface="Calibri" pitchFamily="34" charset="0"/>
                <a:ea typeface="Calibri" pitchFamily="34" charset="-122"/>
                <a:cs typeface="Calibri" pitchFamily="34" charset="-120"/>
              </a:rPr>
              <a:t>Was E25SA07-03 a humorous or a sad video?</a:t>
            </a:r>
            <a:endParaRPr lang="en-US" sz="1450" dirty="0"/>
          </a:p>
        </p:txBody>
      </p:sp>
      <p:sp>
        <p:nvSpPr>
          <p:cNvPr id="11" name="Text 9"/>
          <p:cNvSpPr/>
          <p:nvPr/>
        </p:nvSpPr>
        <p:spPr>
          <a:xfrm>
            <a:off x="6583680" y="3236976"/>
            <a:ext cx="4754880" cy="640080"/>
          </a:xfrm>
          <a:prstGeom prst="rect">
            <a:avLst/>
          </a:prstGeom>
          <a:noFill/>
          <a:ln/>
        </p:spPr>
        <p:txBody>
          <a:bodyPr wrap="square" lIns="0" tIns="0" rIns="0" bIns="0" rtlCol="0" anchor="ctr"/>
          <a:lstStyle/>
          <a:p>
            <a:pPr marL="0" indent="0">
              <a:buNone/>
            </a:pPr>
            <a:r>
              <a:rPr lang="en-US" sz="1250" dirty="0">
                <a:solidFill>
                  <a:srgbClr val="78909C"/>
                </a:solidFill>
                <a:latin typeface="Calibri" pitchFamily="34" charset="0"/>
                <a:ea typeface="Calibri" pitchFamily="34" charset="-122"/>
                <a:cs typeface="Calibri" pitchFamily="34" charset="-120"/>
              </a:rPr>
              <a:t>The two labels in the file disagree.</a:t>
            </a:r>
            <a:endParaRPr lang="en-US" sz="1250" dirty="0"/>
          </a:p>
        </p:txBody>
      </p:sp>
      <p:sp>
        <p:nvSpPr>
          <p:cNvPr id="12" name="Shape 10"/>
          <p:cNvSpPr/>
          <p:nvPr/>
        </p:nvSpPr>
        <p:spPr>
          <a:xfrm>
            <a:off x="566928" y="4105656"/>
            <a:ext cx="11064240" cy="786384"/>
          </a:xfrm>
          <a:prstGeom prst="roundRect">
            <a:avLst>
              <a:gd name="adj" fmla="val 5814"/>
            </a:avLst>
          </a:prstGeom>
          <a:solidFill>
            <a:srgbClr val="FFFFFF"/>
          </a:solidFill>
          <a:ln w="12700">
            <a:solidFill>
              <a:srgbClr val="ECEFF1"/>
            </a:solidFill>
            <a:prstDash val="solid"/>
          </a:ln>
        </p:spPr>
        <p:txBody>
          <a:bodyPr/>
          <a:lstStyle/>
          <a:p>
            <a:endParaRPr lang="en-US"/>
          </a:p>
        </p:txBody>
      </p:sp>
      <p:sp>
        <p:nvSpPr>
          <p:cNvPr id="13" name="Text 11"/>
          <p:cNvSpPr/>
          <p:nvPr/>
        </p:nvSpPr>
        <p:spPr>
          <a:xfrm>
            <a:off x="868680" y="4178808"/>
            <a:ext cx="5669280" cy="640080"/>
          </a:xfrm>
          <a:prstGeom prst="rect">
            <a:avLst/>
          </a:prstGeom>
          <a:noFill/>
          <a:ln/>
        </p:spPr>
        <p:txBody>
          <a:bodyPr wrap="square" lIns="0" tIns="0" rIns="0" bIns="0" rtlCol="0" anchor="ctr"/>
          <a:lstStyle/>
          <a:p>
            <a:pPr marL="0" indent="0">
              <a:buNone/>
            </a:pPr>
            <a:r>
              <a:rPr lang="en-US" sz="1450" b="1" dirty="0">
                <a:solidFill>
                  <a:srgbClr val="263238"/>
                </a:solidFill>
                <a:latin typeface="Calibri" pitchFamily="34" charset="0"/>
                <a:ea typeface="Calibri" pitchFamily="34" charset="-122"/>
                <a:cs typeface="Calibri" pitchFamily="34" charset="-120"/>
              </a:rPr>
              <a:t>Did NZ European smilers watch the same videos?</a:t>
            </a:r>
            <a:endParaRPr lang="en-US" sz="1450" dirty="0"/>
          </a:p>
        </p:txBody>
      </p:sp>
      <p:sp>
        <p:nvSpPr>
          <p:cNvPr id="14" name="Text 12"/>
          <p:cNvSpPr/>
          <p:nvPr/>
        </p:nvSpPr>
        <p:spPr>
          <a:xfrm>
            <a:off x="6583680" y="4178808"/>
            <a:ext cx="4754880" cy="640080"/>
          </a:xfrm>
          <a:prstGeom prst="rect">
            <a:avLst/>
          </a:prstGeom>
          <a:noFill/>
          <a:ln/>
        </p:spPr>
        <p:txBody>
          <a:bodyPr wrap="square" lIns="0" tIns="0" rIns="0" bIns="0" rtlCol="0" anchor="ctr"/>
          <a:lstStyle/>
          <a:p>
            <a:pPr marL="0" indent="0">
              <a:buNone/>
            </a:pPr>
            <a:r>
              <a:rPr lang="en-US" sz="1250" dirty="0">
                <a:solidFill>
                  <a:srgbClr val="78909C"/>
                </a:solidFill>
                <a:latin typeface="Calibri" pitchFamily="34" charset="0"/>
                <a:ea typeface="Calibri" pitchFamily="34" charset="-122"/>
                <a:cs typeface="Calibri" pitchFamily="34" charset="-120"/>
              </a:rPr>
              <a:t>Or culturally matched different ones? Changes the model.</a:t>
            </a:r>
            <a:endParaRPr lang="en-US" sz="1250" dirty="0"/>
          </a:p>
        </p:txBody>
      </p:sp>
      <p:sp>
        <p:nvSpPr>
          <p:cNvPr id="15" name="Shape 13"/>
          <p:cNvSpPr/>
          <p:nvPr/>
        </p:nvSpPr>
        <p:spPr>
          <a:xfrm>
            <a:off x="566928" y="5047488"/>
            <a:ext cx="11064240" cy="786384"/>
          </a:xfrm>
          <a:prstGeom prst="roundRect">
            <a:avLst>
              <a:gd name="adj" fmla="val 5814"/>
            </a:avLst>
          </a:prstGeom>
          <a:solidFill>
            <a:srgbClr val="ECEFF1"/>
          </a:solidFill>
          <a:ln w="12700">
            <a:solidFill>
              <a:srgbClr val="ECEFF1"/>
            </a:solidFill>
            <a:prstDash val="solid"/>
          </a:ln>
        </p:spPr>
        <p:txBody>
          <a:bodyPr/>
          <a:lstStyle/>
          <a:p>
            <a:endParaRPr lang="en-US"/>
          </a:p>
        </p:txBody>
      </p:sp>
      <p:sp>
        <p:nvSpPr>
          <p:cNvPr id="16" name="Text 14"/>
          <p:cNvSpPr/>
          <p:nvPr/>
        </p:nvSpPr>
        <p:spPr>
          <a:xfrm>
            <a:off x="868680" y="5120640"/>
            <a:ext cx="5669280" cy="640080"/>
          </a:xfrm>
          <a:prstGeom prst="rect">
            <a:avLst/>
          </a:prstGeom>
          <a:noFill/>
          <a:ln/>
        </p:spPr>
        <p:txBody>
          <a:bodyPr wrap="square" lIns="0" tIns="0" rIns="0" bIns="0" rtlCol="0" anchor="ctr"/>
          <a:lstStyle/>
          <a:p>
            <a:pPr marL="0" indent="0">
              <a:buNone/>
            </a:pPr>
            <a:r>
              <a:rPr lang="en-US" sz="1450" b="1" dirty="0">
                <a:solidFill>
                  <a:srgbClr val="263238"/>
                </a:solidFill>
                <a:latin typeface="Calibri" pitchFamily="34" charset="0"/>
                <a:ea typeface="Calibri" pitchFamily="34" charset="-122"/>
                <a:cs typeface="Calibri" pitchFamily="34" charset="-120"/>
              </a:rPr>
              <a:t>Should Happy peak stay in the measure set?</a:t>
            </a:r>
            <a:endParaRPr lang="en-US" sz="1450" dirty="0"/>
          </a:p>
        </p:txBody>
      </p:sp>
      <p:sp>
        <p:nvSpPr>
          <p:cNvPr id="17" name="Text 15"/>
          <p:cNvSpPr/>
          <p:nvPr/>
        </p:nvSpPr>
        <p:spPr>
          <a:xfrm>
            <a:off x="6583680" y="5120640"/>
            <a:ext cx="4754880" cy="640080"/>
          </a:xfrm>
          <a:prstGeom prst="rect">
            <a:avLst/>
          </a:prstGeom>
          <a:noFill/>
          <a:ln/>
        </p:spPr>
        <p:txBody>
          <a:bodyPr wrap="square" lIns="0" tIns="0" rIns="0" bIns="0" rtlCol="0" anchor="ctr"/>
          <a:lstStyle/>
          <a:p>
            <a:pPr marL="0" indent="0">
              <a:buNone/>
            </a:pPr>
            <a:r>
              <a:rPr lang="en-US" sz="1250" dirty="0">
                <a:solidFill>
                  <a:srgbClr val="78909C"/>
                </a:solidFill>
                <a:latin typeface="Calibri" pitchFamily="34" charset="0"/>
                <a:ea typeface="Calibri" pitchFamily="34" charset="-122"/>
                <a:cs typeface="Calibri" pitchFamily="34" charset="-120"/>
              </a:rPr>
              <a:t>It overlaps almost entirely with the smile measure (r = 0.85).</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263238"/>
        </a:solidFill>
        <a:effectLst/>
      </p:bgPr>
    </p:bg>
    <p:spTree>
      <p:nvGrpSpPr>
        <p:cNvPr id="1" name=""/>
        <p:cNvGrpSpPr/>
        <p:nvPr/>
      </p:nvGrpSpPr>
      <p:grpSpPr>
        <a:xfrm>
          <a:off x="0" y="0"/>
          <a:ext cx="0" cy="0"/>
          <a:chOff x="0" y="0"/>
          <a:chExt cx="0" cy="0"/>
        </a:xfrm>
      </p:grpSpPr>
      <p:sp>
        <p:nvSpPr>
          <p:cNvPr id="2" name="Text 0"/>
          <p:cNvSpPr/>
          <p:nvPr/>
        </p:nvSpPr>
        <p:spPr>
          <a:xfrm>
            <a:off x="822960" y="1874520"/>
            <a:ext cx="10515600" cy="320040"/>
          </a:xfrm>
          <a:prstGeom prst="rect">
            <a:avLst/>
          </a:prstGeom>
          <a:noFill/>
          <a:ln/>
        </p:spPr>
        <p:txBody>
          <a:bodyPr wrap="square" rtlCol="0" anchor="ctr"/>
          <a:lstStyle/>
          <a:p>
            <a:pPr marL="0" indent="0">
              <a:buNone/>
            </a:pPr>
            <a:r>
              <a:rPr lang="en-US" sz="1300" b="1" kern="0" spc="300" dirty="0">
                <a:solidFill>
                  <a:srgbClr val="E64626"/>
                </a:solidFill>
                <a:latin typeface="Calibri" pitchFamily="34" charset="0"/>
                <a:ea typeface="Calibri" pitchFamily="34" charset="-122"/>
                <a:cs typeface="Calibri" pitchFamily="34" charset="-120"/>
              </a:rPr>
              <a:t>IN SHORT</a:t>
            </a:r>
            <a:endParaRPr lang="en-US" sz="1300" dirty="0"/>
          </a:p>
        </p:txBody>
      </p:sp>
      <p:sp>
        <p:nvSpPr>
          <p:cNvPr id="3" name="Text 1"/>
          <p:cNvSpPr/>
          <p:nvPr/>
        </p:nvSpPr>
        <p:spPr>
          <a:xfrm>
            <a:off x="822960" y="2286000"/>
            <a:ext cx="10515600" cy="1463040"/>
          </a:xfrm>
          <a:prstGeom prst="rect">
            <a:avLst/>
          </a:prstGeom>
          <a:noFill/>
          <a:ln/>
        </p:spPr>
        <p:txBody>
          <a:bodyPr wrap="square"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Nothing is broken.</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Several things are fixable.</a:t>
            </a:r>
            <a:endParaRPr lang="en-US" sz="4000" dirty="0"/>
          </a:p>
        </p:txBody>
      </p:sp>
      <p:sp>
        <p:nvSpPr>
          <p:cNvPr id="4" name="Text 2"/>
          <p:cNvSpPr/>
          <p:nvPr/>
        </p:nvSpPr>
        <p:spPr>
          <a:xfrm>
            <a:off x="822960" y="3931920"/>
            <a:ext cx="10058400" cy="1097280"/>
          </a:xfrm>
          <a:prstGeom prst="rect">
            <a:avLst/>
          </a:prstGeom>
          <a:noFill/>
          <a:ln/>
        </p:spPr>
        <p:txBody>
          <a:bodyPr wrap="square" rtlCol="0" anchor="ctr"/>
          <a:lstStyle/>
          <a:p>
            <a:pPr marL="0" indent="0">
              <a:lnSpc>
                <a:spcPts val="2400"/>
              </a:lnSpc>
              <a:buNone/>
            </a:pPr>
            <a:endParaRPr lang="en-US" sz="1600" dirty="0"/>
          </a:p>
          <a:p>
            <a:pPr marL="0" indent="0">
              <a:lnSpc>
                <a:spcPts val="2400"/>
              </a:lnSpc>
              <a:buNone/>
            </a:pPr>
            <a:r>
              <a:rPr lang="en-US" sz="1600">
                <a:solidFill>
                  <a:srgbClr val="B0BEC5"/>
                </a:solidFill>
                <a:latin typeface="Calibri" pitchFamily="34" charset="0"/>
                <a:ea typeface="Calibri" pitchFamily="34" charset="-122"/>
                <a:cs typeface="Calibri" pitchFamily="34" charset="-120"/>
              </a:rPr>
              <a:t>Thank you, </a:t>
            </a:r>
            <a:r>
              <a:rPr lang="en-US" sz="1600" dirty="0">
                <a:solidFill>
                  <a:srgbClr val="B0BEC5"/>
                </a:solidFill>
                <a:latin typeface="Calibri" pitchFamily="34" charset="0"/>
                <a:ea typeface="Calibri" pitchFamily="34" charset="-122"/>
                <a:cs typeface="Calibri" pitchFamily="34" charset="-120"/>
              </a:rPr>
              <a:t>happy to take 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2094</Words>
  <Application>Microsoft Macintosh PowerPoint</Application>
  <PresentationFormat>Widescreen</PresentationFormat>
  <Paragraphs>158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Smile study - preliminary analysis</dc:title>
  <dc:subject>PptxGenJS Presentation</dc:subject>
  <dc:creator>Delphine Dang</dc:creator>
  <cp:lastModifiedBy>Delphine Dang</cp:lastModifiedBy>
  <cp:revision>2</cp:revision>
  <dcterms:created xsi:type="dcterms:W3CDTF">2026-08-10T10:40:24Z</dcterms:created>
  <dcterms:modified xsi:type="dcterms:W3CDTF">2026-08-10T12:16:46Z</dcterms:modified>
</cp:coreProperties>
</file>